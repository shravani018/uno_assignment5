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6"/>
  </p:notesMasterIdLst>
  <p:sldIdLst>
    <p:sldId id="257" r:id="rId5"/>
    <p:sldId id="2147473092" r:id="rId6"/>
    <p:sldId id="2147473091" r:id="rId7"/>
    <p:sldId id="2147473082" r:id="rId8"/>
    <p:sldId id="272" r:id="rId9"/>
    <p:sldId id="258" r:id="rId10"/>
    <p:sldId id="259" r:id="rId11"/>
    <p:sldId id="320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2147473078" r:id="rId23"/>
    <p:sldId id="321" r:id="rId24"/>
    <p:sldId id="267" r:id="rId25"/>
    <p:sldId id="2147473093" r:id="rId26"/>
    <p:sldId id="2147473080" r:id="rId27"/>
    <p:sldId id="2147473094" r:id="rId28"/>
    <p:sldId id="327" r:id="rId29"/>
    <p:sldId id="2147473071" r:id="rId30"/>
    <p:sldId id="2147473079" r:id="rId31"/>
    <p:sldId id="2147473095" r:id="rId32"/>
    <p:sldId id="278" r:id="rId33"/>
    <p:sldId id="2147473074" r:id="rId34"/>
    <p:sldId id="2147473075" r:id="rId35"/>
    <p:sldId id="2147473076" r:id="rId36"/>
    <p:sldId id="2147473096" r:id="rId37"/>
    <p:sldId id="269" r:id="rId38"/>
    <p:sldId id="286" r:id="rId39"/>
    <p:sldId id="296" r:id="rId40"/>
    <p:sldId id="291" r:id="rId41"/>
    <p:sldId id="292" r:id="rId42"/>
    <p:sldId id="294" r:id="rId43"/>
    <p:sldId id="300" r:id="rId44"/>
    <p:sldId id="2147473099" r:id="rId45"/>
    <p:sldId id="323" r:id="rId46"/>
    <p:sldId id="2147473098" r:id="rId47"/>
    <p:sldId id="264" r:id="rId48"/>
    <p:sldId id="2147473097" r:id="rId49"/>
    <p:sldId id="260" r:id="rId50"/>
    <p:sldId id="274" r:id="rId51"/>
    <p:sldId id="277" r:id="rId52"/>
    <p:sldId id="261" r:id="rId53"/>
    <p:sldId id="262" r:id="rId54"/>
    <p:sldId id="273" r:id="rId55"/>
  </p:sldIdLst>
  <p:sldSz cx="12192000" cy="6858000"/>
  <p:notesSz cx="6858000" cy="9144000"/>
  <p:defaultTextStyle>
    <a:defPPr>
      <a:defRPr lang="LID4096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3FD882-592C-4301-B8FD-297A9718AA27}">
          <p14:sldIdLst>
            <p14:sldId id="257"/>
            <p14:sldId id="2147473092"/>
            <p14:sldId id="2147473091"/>
            <p14:sldId id="2147473082"/>
          </p14:sldIdLst>
        </p14:section>
        <p14:section name="About" id="{45B35A47-8D5D-428B-8980-E4DF5B4D8395}">
          <p14:sldIdLst>
            <p14:sldId id="272"/>
          </p14:sldIdLst>
        </p14:section>
        <p14:section name="How to play" id="{E8AAA800-83D0-48BA-9C6A-91E6E42B504A}">
          <p14:sldIdLst>
            <p14:sldId id="258"/>
          </p14:sldIdLst>
        </p14:section>
        <p14:section name="Special Cards" id="{248585B6-4C83-41EC-92E2-9D23C71C93DA}">
          <p14:sldIdLst>
            <p14:sldId id="259"/>
          </p14:sldIdLst>
        </p14:section>
        <p14:section name="Gameplay Illustrations" id="{4018E87A-F653-49FC-9342-7ADAA0ED2533}">
          <p14:sldIdLst>
            <p14:sldId id="320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Related Work &amp; Strategies" id="{E0E11350-23C6-4D00-A343-712338AB07D2}">
          <p14:sldIdLst>
            <p14:sldId id="2147473078"/>
            <p14:sldId id="321"/>
          </p14:sldIdLst>
        </p14:section>
        <p14:section name="Agents" id="{1CAC89BB-D0E3-43C4-B3AB-FC880DBCA701}">
          <p14:sldIdLst>
            <p14:sldId id="267"/>
            <p14:sldId id="2147473093"/>
            <p14:sldId id="2147473080"/>
            <p14:sldId id="2147473094"/>
            <p14:sldId id="327"/>
            <p14:sldId id="2147473071"/>
            <p14:sldId id="2147473079"/>
            <p14:sldId id="2147473095"/>
            <p14:sldId id="278"/>
            <p14:sldId id="2147473074"/>
            <p14:sldId id="2147473075"/>
            <p14:sldId id="2147473076"/>
          </p14:sldIdLst>
        </p14:section>
        <p14:section name="Analysis" id="{1658B586-F06F-412A-8997-B6B1A38A7D23}">
          <p14:sldIdLst>
            <p14:sldId id="2147473096"/>
            <p14:sldId id="269"/>
            <p14:sldId id="286"/>
            <p14:sldId id="296"/>
            <p14:sldId id="291"/>
            <p14:sldId id="292"/>
            <p14:sldId id="294"/>
            <p14:sldId id="300"/>
          </p14:sldIdLst>
        </p14:section>
        <p14:section name="Streamlit App" id="{E9DD3E00-66E1-4094-8CE8-A58F4F0498C3}">
          <p14:sldIdLst>
            <p14:sldId id="2147473099"/>
            <p14:sldId id="323"/>
          </p14:sldIdLst>
        </p14:section>
        <p14:section name="Limitations" id="{9DF5B0A0-2042-4C66-8DB0-DB351CA2B92B}">
          <p14:sldIdLst>
            <p14:sldId id="2147473098"/>
          </p14:sldIdLst>
        </p14:section>
        <p14:section name="References and Q&amp;A" id="{760EF232-25EC-4229-8485-32AC7C0A8504}">
          <p14:sldIdLst>
            <p14:sldId id="264"/>
            <p14:sldId id="2147473097"/>
          </p14:sldIdLst>
        </p14:section>
        <p14:section name="Appendix" id="{F47B9234-9A35-4B45-9B82-B25A7D1062BE}">
          <p14:sldIdLst>
            <p14:sldId id="260"/>
          </p14:sldIdLst>
        </p14:section>
        <p14:section name="Detailed Gameplay Instruction" id="{38805904-C86B-4B78-A517-BA72F8CC3C06}">
          <p14:sldIdLst>
            <p14:sldId id="274"/>
            <p14:sldId id="277"/>
          </p14:sldIdLst>
        </p14:section>
        <p14:section name="Challenge Mechanic Expl." id="{379843CD-DF1F-41BD-B567-95999FA144D8}">
          <p14:sldIdLst>
            <p14:sldId id="261"/>
            <p14:sldId id="26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00611E-8FF0-E064-96FA-D7CF6BF9E52B}" name="Shaonan Feng" initials="SF" userId="S::shaonan.feng@fs-students.de::b72b1195-52d7-4e72-81f8-ebcc815e2356" providerId="AD"/>
  <p188:author id="{F0E16365-ED06-419F-836E-1673DF206696}" name="Di Yang" initials="DY" userId="S::di.yang@fs-students.de::449367b0-71da-4a1f-9c47-65a07f2a5043" providerId="AD"/>
  <p188:author id="{590E8B70-B201-FD19-9760-9F8239FAFB11}" name="Shravani Mahadeshwar" initials="SM" userId="S::shravani.mahadeshwar@fs-students.de::47dd69ca-4653-4609-b3f0-4326fd062dee" providerId="AD"/>
  <p188:author id="{3A2DBBC5-66DD-E2E7-5510-2ACECAC6338D}" name="Marc Hayes" initials="HM" userId="S::marc.hayes@fs-students.de::3596d3d6-b32e-4ec5-a78f-fa13ed7b44ac" providerId="AD"/>
  <p188:author id="{8BD967FE-C32D-7CC4-D8B7-0C4A91575DCC}" name="Padma Priya Botsa" initials="PB" userId="S::padma_priya.botsa@fs-students.de::471eadf2-adcd-4c9f-a632-c46c6b55c9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F8DB2B"/>
    <a:srgbClr val="FBDF0A"/>
    <a:srgbClr val="93D150"/>
    <a:srgbClr val="2F75B6"/>
    <a:srgbClr val="FFDE0A"/>
    <a:srgbClr val="222A35"/>
    <a:srgbClr val="E01919"/>
    <a:srgbClr val="144486"/>
    <a:srgbClr val="FC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CBF47-B701-504B-B124-C6F29A31C5BF}" v="13041" dt="2026-05-23T07:40:56.077"/>
    <p1510:client id="{39E76F18-76E2-7EB8-D0E0-C0965E9620EE}" v="81" dt="2026-05-22T16:41:25.995"/>
    <p1510:client id="{60183C66-F883-0321-4A66-AA927E9FD092}" v="10" dt="2026-05-22T11:17:28.286"/>
    <p1510:client id="{6073ED4E-C66B-0288-1E55-9BF90DE7143D}" v="120" dt="2026-05-22T23:03:04.174"/>
    <p1510:client id="{6D793382-7181-210D-A7AA-2F64BB8AEA82}" v="11" dt="2026-05-22T18:18:38.921"/>
    <p1510:client id="{786D1C7B-239B-B972-FC09-8A71094BBC25}" v="21" dt="2026-05-23T07:59:51.223"/>
    <p1510:client id="{8040081C-D94E-C9C6-7DA6-4BB73A18D5B5}" v="178" dt="2026-05-23T08:45:05.531"/>
    <p1510:client id="{885E7965-9306-03BE-0BA9-959C858B5B98}" v="18" dt="2026-05-22T17:11:32.132"/>
    <p1510:client id="{9C77E885-7D88-5494-1476-2DC9A1C458C7}" v="12" dt="2026-05-23T06:45:09.366"/>
    <p1510:client id="{9EF3541B-70FE-C7A4-DBBC-731F3E71C795}" v="7" dt="2026-05-22T18:15:29.735"/>
    <p1510:client id="{AEBFB82B-85EC-BCC6-69EB-4A5E0E5B95CD}" v="6" dt="2026-05-22T15:48:53.921"/>
    <p1510:client id="{C9CCE937-030D-EA3D-191E-AA718BD1972D}" v="438" dt="2026-05-22T15:45:36.529"/>
    <p1510:client id="{CB4BC3BE-4B85-9537-769A-634130E70169}" v="166" dt="2026-05-22T16:05:43.386"/>
    <p1510:client id="{DC0D9663-01F4-A2A6-20B2-EB235AE2B679}" v="5" dt="2026-05-23T08:47:30.506"/>
    <p1510:client id="{F0CF92FE-864B-5E33-6F80-66A2BBF5FEA8}" v="9" dt="2026-05-23T07:18:14.085"/>
    <p1510:client id="{FE2E3DE4-2E2C-70E0-F8EF-837622977376}" v="822" dt="2026-05-22T11:43:38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62" y="4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22E98-AD31-4D73-87EA-2DF5D531E3D4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BDB6E-27DB-42BD-944D-46C9625E8FC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586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orules.com/uno-trivia-stuff-and-facts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unorules.com/best-strategies-to-win-uno/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Color on </a:t>
            </a:r>
            <a:r>
              <a:rPr lang="en-US" b="1"/>
              <a:t>Same Number</a:t>
            </a:r>
            <a:endParaRPr lang="LID4096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72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9986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38FD-FF98-DDD0-6718-C5C7AF1A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22645-5AF8-6E3B-D616-6FB9B9CEB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0973A-4EA5-E7A0-FA9E-C133CEC2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Color on </a:t>
            </a:r>
            <a:r>
              <a:rPr lang="en-US" b="1"/>
              <a:t>Same Number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902BB-783F-AC01-8EA3-3A51F7B2C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2978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EA1D-DB02-C4A6-6514-B445F4A94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F29CC-09CE-3770-5CBD-191A6F538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B5A8B-0F6A-A093-DD90-2C4C637B4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9F531-B623-378D-8D43-46793D247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0661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21E9-5099-1B01-302C-5F0B0181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2377B-74C2-840D-DDC2-D0D05095D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DD6BA-F67C-E0EE-3E3A-7567A6A75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D32A8-6E72-1482-2438-31CB05FF1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9312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20B3-B3F6-BB72-F97D-EF7C37B6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59601-EF6F-3AAD-032F-23E4843AF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5A808-216D-6AB7-C52B-D1D93EC45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39D91-A9AA-2ACA-7594-4646F43A6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1807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E7D2-50FA-1686-A413-1EB56DE1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CF1E5-514C-8C62-2CB4-60323C20F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DC939-959A-4C22-F34C-93AA5796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1FC05-E1DC-0B8F-DA0D-3A1F73548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9590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7333-3321-49A5-432F-F5D1DB3D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DA5DF-1103-C5BA-6C09-E5E4B163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AB8CF-74B0-5A3B-2EBE-76C7BAAB5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BE6E1-64BF-B088-4DCC-6829479DD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663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B537-B64B-BD6E-2BD7-B23B5BD4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B77D1-47DD-0469-908D-9B9663914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7726F-7B04-4AF1-9F38-DCD1C6A0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15DC-8F76-380E-C1B7-3ADE99AB5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6053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/>
              <a:t>Winning Uno With Reinforcement Learning (Stanford University: O. Brown, D. </a:t>
            </a:r>
            <a:r>
              <a:rPr lang="en-US" u="sng" err="1"/>
              <a:t>Jasson</a:t>
            </a:r>
            <a:r>
              <a:rPr lang="en-US" u="sng"/>
              <a:t>, A. </a:t>
            </a:r>
            <a:r>
              <a:rPr lang="en-US" u="sng" err="1"/>
              <a:t>Swarnakar</a:t>
            </a:r>
            <a:r>
              <a:rPr lang="en-US" u="sng"/>
              <a:t>)</a:t>
            </a:r>
          </a:p>
          <a:p>
            <a:r>
              <a:rPr lang="en-US"/>
              <a:t>- The paper models UNO as a reinforcement learning problem with </a:t>
            </a:r>
            <a:r>
              <a:rPr lang="en-US" b="1"/>
              <a:t>hidden information and delayed rewards</a:t>
            </a:r>
          </a:p>
          <a:p>
            <a:pPr marL="171450" indent="-171450">
              <a:buFontTx/>
              <a:buChar char="-"/>
            </a:pPr>
            <a:r>
              <a:rPr lang="en-US"/>
              <a:t>Used </a:t>
            </a:r>
            <a:r>
              <a:rPr lang="en-US" b="1" err="1"/>
              <a:t>RLCard</a:t>
            </a:r>
            <a:r>
              <a:rPr lang="en-US" b="1"/>
              <a:t> </a:t>
            </a:r>
            <a:r>
              <a:rPr lang="en-US" b="0"/>
              <a:t>library to </a:t>
            </a:r>
            <a:r>
              <a:rPr lang="en-US"/>
              <a:t>compare two RL approaches: DQN vs </a:t>
            </a:r>
            <a:r>
              <a:rPr lang="en-US" err="1"/>
              <a:t>DeepSARSA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DQN achieved overall best performance </a:t>
            </a:r>
          </a:p>
          <a:p>
            <a:pPr marL="628639" lvl="1" indent="-171450">
              <a:buFontTx/>
              <a:buChar char="-"/>
            </a:pPr>
            <a:r>
              <a:rPr lang="en-US"/>
              <a:t>63.5% win rate against 2 other random agents in a 3-player match</a:t>
            </a:r>
          </a:p>
          <a:p>
            <a:pPr marL="628639" lvl="1" indent="-171450">
              <a:buFontTx/>
              <a:buChar char="-"/>
            </a:pPr>
            <a:r>
              <a:rPr lang="en-US"/>
              <a:t>39% win rate against </a:t>
            </a:r>
            <a:r>
              <a:rPr lang="en-US" err="1"/>
              <a:t>DeepSARSA</a:t>
            </a:r>
            <a:r>
              <a:rPr lang="en-US"/>
              <a:t> and a random agent in 3-player match</a:t>
            </a:r>
          </a:p>
          <a:p>
            <a:pPr marL="457189" lvl="1" indent="0">
              <a:buFontTx/>
              <a:buNone/>
            </a:pPr>
            <a:endParaRPr lang="en-US"/>
          </a:p>
          <a:p>
            <a:r>
              <a:rPr lang="en-US" u="sng"/>
              <a:t>RL compared to rule-based play in UNO (by Sara Nord</a:t>
            </a:r>
            <a:r>
              <a:rPr lang="en-DE" u="sng"/>
              <a:t>ström </a:t>
            </a:r>
            <a:r>
              <a:rPr lang="en-US" u="sng"/>
              <a:t>&amp; Nils </a:t>
            </a:r>
            <a:r>
              <a:rPr lang="en-US" u="sng" err="1"/>
              <a:t>Ottosson</a:t>
            </a:r>
            <a:r>
              <a:rPr lang="en-US" u="sng"/>
              <a:t>)</a:t>
            </a:r>
          </a:p>
          <a:p>
            <a:pPr marL="171450" indent="-171450">
              <a:buFontTx/>
              <a:buChar char="-"/>
            </a:pPr>
            <a:r>
              <a:rPr lang="en-US"/>
              <a:t>DQN (Deep-Q-Network), NFSP (Neural </a:t>
            </a:r>
            <a:r>
              <a:rPr lang="en-US" err="1"/>
              <a:t>Ficticious</a:t>
            </a:r>
            <a:r>
              <a:rPr lang="en-US"/>
              <a:t> Self-Play), DMC (Deep Monte Carlo)</a:t>
            </a:r>
          </a:p>
          <a:p>
            <a:pPr marL="171450" indent="-171450">
              <a:buFontTx/>
              <a:buChar char="-"/>
            </a:pPr>
            <a:r>
              <a:rPr lang="en-US"/>
              <a:t>RL-based UNO agents adapt better than static rule-based agents 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DQN plateaued at approx. 100k training iterations. However, in testing there was a significant difference in performance with 100k vs 500k training iterations.</a:t>
            </a:r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Both show only a slightly better payoff / </a:t>
            </a:r>
            <a:r>
              <a:rPr lang="en-US" err="1"/>
              <a:t>winrate</a:t>
            </a:r>
            <a:r>
              <a:rPr lang="en-US"/>
              <a:t> against the rule-based agent.</a:t>
            </a:r>
          </a:p>
          <a:p>
            <a:pPr marL="171450" indent="-171450">
              <a:buFontTx/>
              <a:buChar char="-"/>
            </a:pPr>
            <a:r>
              <a:rPr lang="en-US"/>
              <a:t>Rule-based baselines are significantly weaker than trained RL agents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Used </a:t>
            </a:r>
            <a:r>
              <a:rPr lang="en-US" b="1" err="1"/>
              <a:t>RLCard</a:t>
            </a:r>
            <a:r>
              <a:rPr lang="en-US"/>
              <a:t> library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/>
              <a:t>The complexity of UNO (E. </a:t>
            </a:r>
            <a:r>
              <a:rPr lang="en-US" u="sng" err="1"/>
              <a:t>Demaine</a:t>
            </a:r>
            <a:r>
              <a:rPr lang="en-US" u="sng"/>
              <a:t>, M. </a:t>
            </a:r>
            <a:r>
              <a:rPr lang="en-US" u="sng" err="1"/>
              <a:t>Demaine</a:t>
            </a:r>
            <a:r>
              <a:rPr lang="en-US" u="sng"/>
              <a:t>, R. Uehara, T. Uno, Y. Uno)</a:t>
            </a:r>
            <a:endParaRPr lang="en-US" u="non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u="none"/>
              <a:t>NP-complete means </a:t>
            </a:r>
            <a:r>
              <a:rPr lang="en-US" b="1" u="none"/>
              <a:t>Nondeterministic Polynomial time</a:t>
            </a:r>
            <a:endParaRPr lang="en-US" b="0" u="none"/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meaning solutions are easy to verify but may be very difficult to find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models UNO as a combinatorial game theory problem rather than an RL problem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prove that even simplified single-player UNO is NP-complete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/>
              <a:t>Two-player competitive UNO becomes PSPACE-complete, meaning optimal play is computationally very difficult</a:t>
            </a:r>
            <a:endParaRPr lang="en-US" b="0" u="sng"/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u="none"/>
              <a:t>meaning the problem may require an enormous amount of memory (space) to solve optimally</a:t>
            </a:r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u="none"/>
              <a:t>PSPACE-complete problems involve not only a </a:t>
            </a:r>
            <a:r>
              <a:rPr lang="en-US" b="0" i="1" u="none"/>
              <a:t>huge number</a:t>
            </a:r>
            <a:r>
              <a:rPr lang="en-US" b="0" u="none"/>
              <a:t> of </a:t>
            </a:r>
            <a:r>
              <a:rPr lang="en-US" b="0" u="sng"/>
              <a:t>possible solutions</a:t>
            </a:r>
            <a:r>
              <a:rPr lang="en-US" b="0" u="none"/>
              <a:t>, but also </a:t>
            </a:r>
            <a:r>
              <a:rPr lang="en-US" b="0" i="1" u="none"/>
              <a:t>huge numbers</a:t>
            </a:r>
            <a:r>
              <a:rPr lang="en-US" b="0" u="none"/>
              <a:t> of </a:t>
            </a:r>
            <a:r>
              <a:rPr lang="en-US" b="0" u="sng"/>
              <a:t>possible</a:t>
            </a:r>
            <a:r>
              <a:rPr lang="en-US" b="0" u="none"/>
              <a:t> </a:t>
            </a:r>
            <a:r>
              <a:rPr lang="en-US" b="0" u="sng"/>
              <a:t>game states</a:t>
            </a:r>
            <a:r>
              <a:rPr lang="en-US" b="0" u="none"/>
              <a:t> and </a:t>
            </a:r>
            <a:r>
              <a:rPr lang="en-US" b="0" u="sng"/>
              <a:t>future decisions</a:t>
            </a:r>
            <a:endParaRPr lang="en-US" b="1"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3981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Highlight / mention that we have implemented a rule-based agent [</a:t>
            </a:r>
            <a:r>
              <a:rPr lang="en-US" b="1"/>
              <a:t>Greedy Bot</a:t>
            </a:r>
            <a:r>
              <a:rPr lang="en-US"/>
              <a:t>] follows the “common” strategy.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Greedy Bot has a “</a:t>
            </a:r>
            <a:r>
              <a:rPr lang="en-US" b="0" i="1"/>
              <a:t>Threat Mode</a:t>
            </a:r>
            <a:r>
              <a:rPr lang="en-US"/>
              <a:t>”, meaning once the opponent has 2 or less cards the agent will prioritize playing draw cards.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1659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explicitly that for the remainder of the presentation when we refer to “ISMCTS” we mean “ISISMCTS” (Information Set Monte Carlo Tree Search)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5830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Win/loss outcomes are binary and are therefore evaluated using a binomial test to assess whether the win probability significantly deviates from random chance. </a:t>
            </a:r>
          </a:p>
          <a:p>
            <a:r>
              <a:rPr lang="en-US"/>
              <a:t>Surviving rounds are continuous and non-normally distributed, making the Mann-Whitney U test appropriate for comparing distributions without assuming normality.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1714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advantage ranking reflects sensitivity to turn order, not overall performance.</a:t>
            </a:r>
          </a:p>
          <a:p>
            <a:r>
              <a:rPr lang="en-US"/>
              <a:t>Although RL shows the highest first-move advantage, this does not indicate stronger performance. Instead, it reflects a higher dependency on turn order, suggesting weaker strategies rely more on positional bias.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3821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0F95-3B36-5811-B5F8-E12C1F55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C301F-ED31-30FE-D281-73927C5DF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8C88-E3B5-3A36-C31A-C4B3EC677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Generate QR code at: https://www.qrcode-generator.de/ </a:t>
            </a:r>
          </a:p>
          <a:p>
            <a:r>
              <a:rPr lang="en-US"/>
              <a:t>Picture size 5.88” x 5.88” ; align middle &amp; move slightly to the right ; Soft Edges (25 point)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083CE-2D74-4F55-82B8-BA11C9657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4580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Generate QR code at: https://www.qrcode-generator.de/ </a:t>
            </a:r>
          </a:p>
          <a:p>
            <a:r>
              <a:rPr lang="en-US"/>
              <a:t>Picture size 5.88” x 5.88” ; align middle &amp; move slightly to the right ; Soft Edges (25 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2831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Cut, because repetitive website (just a different page)</a:t>
            </a:r>
          </a:p>
          <a:p>
            <a:pPr marL="227965" indent="-227965"/>
            <a:r>
              <a:rPr lang="en-US" u="none"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en-US"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https://www.unorules.com/uno-trivia-stuff-and-facts/</a:t>
            </a:r>
            <a:r>
              <a:rPr lang="en-US">
                <a:ea typeface="Calibri"/>
              </a:rPr>
              <a:t> </a:t>
            </a:r>
          </a:p>
          <a:p>
            <a:pPr marL="227965" indent="-227965"/>
            <a:r>
              <a:rPr lang="en-US">
                <a:ea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https://www.unorules.com/best-strategies-to-win-uno/</a:t>
            </a:r>
            <a:r>
              <a:rPr lang="en-US">
                <a:ea typeface="Calibri"/>
              </a:rPr>
              <a:t>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909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2424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5DAA-19FB-032A-D3EE-201BAC996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4BC10-854B-96B0-B1CB-F04F26E2D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C251F-D288-5767-43A6-F8772964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FA43B-1FBF-8935-3DFE-609D947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DCEAF-54F2-B6A9-A9D2-C6AD27C6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751407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EF59DA-AADA-B331-66E9-25C49ECA31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5997539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F59DA-AADA-B331-66E9-25C49ECA31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F9FE731-4E1F-7B8B-BE7A-B3A72C8E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03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lIns="540000" anchor="ctr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D9A0-5A1E-766F-ABFD-1768F23D4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7FF95-5838-E5B9-FF09-4F781C02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1B4BA-51FD-8985-7DB6-74EB2A0A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B67F6-386C-0962-F168-EFFE35B8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1CCCDDB-2843-8095-99D6-53F974784B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undefined">
            <a:extLst>
              <a:ext uri="{FF2B5EF4-FFF2-40B4-BE49-F238E27FC236}">
                <a16:creationId xmlns:a16="http://schemas.microsoft.com/office/drawing/2014/main" id="{7A651FB5-0290-3747-C67C-3E95E20CA6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7ECD3BC8-E86F-BB74-C31E-8921C2769F24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2681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A7BE-5573-EFE5-898E-4535EFC68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4C0F9-3407-C335-9FC3-FA921D415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B5FB1-3F4A-3211-92F6-53F9D76E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EB2F0-BF22-9417-283B-500F71CD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3D9A-607F-823F-4106-1F5ACED4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96638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D18F097-02D6-D153-9085-E35861F8A1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51469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18F097-02D6-D153-9085-E35861F8A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32DC-B299-4B5F-9499-46E02A5D9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6ABA9-7D14-C77E-C8B0-B798CF43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D1BD9-6BA7-1B6C-8DB3-E184DB92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42468-62CE-C0E7-0AC0-53350393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E3686-B6D6-9CF9-FCBD-1D23B95D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9BE395-1FC2-5CF7-2208-99B77C9C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39A7F3B2-F99F-C480-5F8B-4602F6648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undefined">
            <a:extLst>
              <a:ext uri="{FF2B5EF4-FFF2-40B4-BE49-F238E27FC236}">
                <a16:creationId xmlns:a16="http://schemas.microsoft.com/office/drawing/2014/main" id="{8A0B02CC-2387-1B05-99AB-473F079DBE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2058AAE1-EAB4-6DC1-3CAB-0760CB74B298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3283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AD3062B-93FD-1354-303C-26B41EFDB1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32697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D3062B-93FD-1354-303C-26B41EFDB1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9ECF1-7C39-9645-B9F8-C5BFE93F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77404-FFCC-75EE-8A1F-DD9D2D520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E845E-2BFB-3B78-BE98-3B6070FF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D45BC-6AFB-0459-CB48-17AC0F3C2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6B701-1724-5E2F-70FC-A2D3B8A1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9655D-C7A0-1BE3-2C79-5095A569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8E1E0-5AE0-1CCB-96A2-A43214EB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656342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2EA1358-5446-B31E-896F-40DDCE8A3D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76184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EA1358-5446-B31E-896F-40DDCE8A3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3B95F-B264-F7EC-CD79-1AEC1B33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89DDA-AF8A-BB8F-0FAD-6F1D51A0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BD661-021A-2FD5-31E3-2F90245B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1D475D-33C7-B281-5ACF-0EF44B27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B320652-2F49-167E-71D6-0453AE40F3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undefined">
            <a:extLst>
              <a:ext uri="{FF2B5EF4-FFF2-40B4-BE49-F238E27FC236}">
                <a16:creationId xmlns:a16="http://schemas.microsoft.com/office/drawing/2014/main" id="{FB9FACD7-31F5-85E8-44D1-926EAD5F6A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3026AB5A-E5D8-F6CD-52F6-EE88890247B1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733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F0450-7F10-20E1-9F89-8A6CB179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1C876-7141-5881-6E52-6FF9E5A8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7BB04-932C-9713-F202-64F45751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97807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CCD2-3E0D-2D56-3E02-F643F930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B7F26-9B8C-5E53-AC36-453E71D5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52A65-CD8B-2F22-08E5-035C81227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D8728-61BE-6545-DFCA-5248621E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3920C-2F5D-7504-A616-3A2ECB59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DF8B7-F5E0-7D8F-9BFD-D841CD52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58069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7F67-981D-DC74-B6BC-35BEEF67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795CE-11D0-B837-2E56-A78D23B61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49CAF-A377-93B0-39FA-D0EF380A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919CA-614A-DB9E-F9DF-22B44763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21D1E-17C8-71BB-0969-1E318ACF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F7108-2236-5FD4-0EBB-A809365F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91972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494DBE-5D1E-9358-E29E-B5F1838AF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16214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494DBE-5D1E-9358-E29E-B5F1838AF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3A484-DC14-DC4A-0820-668941CB1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E1681-AF26-B389-9173-F8C1DC42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3B7A5-C9E3-B778-6BEE-CBFAE47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4674-7202-8251-D8F9-1DD8F13C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78667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0EA63-1A1F-5D25-F445-C9EC8D0E4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8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A37E2-D980-2ECA-C200-0521D2971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8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46A38-8361-1DB6-337E-61A0C929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5AC8-AA40-AAF8-7F9F-DEB2192A3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0000-9C67-A120-B6DB-968FA5EE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006850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062DD65-0C02-1B7F-6574-084EAAF42B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464886917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2DD65-0C02-1B7F-6574-084EAAF42B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598AF-0CB0-5086-E3CD-015FBAFE2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7E6E7-D2E7-4B3E-3A18-3B7C51A32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EA13D-5312-44B1-A4F6-92415FA68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F86B3-D776-8298-F8BA-7EEDD1895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924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F355AA7-6DE6-42D3-A944-E991047A9CD9}" type="slidenum">
              <a:rPr lang="LID4096" smtClean="0"/>
              <a:pPr/>
              <a:t>‹#›</a:t>
            </a:fld>
            <a:endParaRPr lang="LID4096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57B4C41-6A04-7556-0ADA-DE4EDA01BA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undefined">
            <a:extLst>
              <a:ext uri="{FF2B5EF4-FFF2-40B4-BE49-F238E27FC236}">
                <a16:creationId xmlns:a16="http://schemas.microsoft.com/office/drawing/2014/main" id="{B5FA1568-69B1-3868-87D8-8F7204F1EA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D8981D92-C156-3189-EE21-221B713E3CA2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99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System Font Regular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emf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0.jpe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emf"/><Relationship Id="rId9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45906238_The_complexity_of_UNO" TargetMode="External"/><Relationship Id="rId3" Type="http://schemas.openxmlformats.org/officeDocument/2006/relationships/notesSlide" Target="../notesSlides/notesSlide10.xml"/><Relationship Id="rId7" Type="http://schemas.openxmlformats.org/officeDocument/2006/relationships/hyperlink" Target="https://www.diva-portal.org/smash/record.jsf?pid=diva2%3A1955734&amp;dswid=-5242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hyperlink" Target="https://web.stanford.edu/class/aa228/reports/2020/final79.pdf" TargetMode="External"/><Relationship Id="rId5" Type="http://schemas.openxmlformats.org/officeDocument/2006/relationships/image" Target="../media/image38.emf"/><Relationship Id="rId10" Type="http://schemas.openxmlformats.org/officeDocument/2006/relationships/image" Target="../media/image40.sv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9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45.jpeg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4" Type="http://schemas.openxmlformats.org/officeDocument/2006/relationships/image" Target="../media/image4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47.jpeg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4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4" Type="http://schemas.openxmlformats.org/officeDocument/2006/relationships/image" Target="../media/image48.emf"/><Relationship Id="rId9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50.png"/><Relationship Id="rId4" Type="http://schemas.openxmlformats.org/officeDocument/2006/relationships/image" Target="../media/image48.emf"/><Relationship Id="rId9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59.jpeg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Relationship Id="rId4" Type="http://schemas.openxmlformats.org/officeDocument/2006/relationships/image" Target="../media/image6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openxmlformats.org/officeDocument/2006/relationships/image" Target="../media/image6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Relationship Id="rId5" Type="http://schemas.openxmlformats.org/officeDocument/2006/relationships/image" Target="../media/image64.png"/><Relationship Id="rId4" Type="http://schemas.openxmlformats.org/officeDocument/2006/relationships/image" Target="../media/image6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6.png"/><Relationship Id="rId5" Type="http://schemas.openxmlformats.org/officeDocument/2006/relationships/image" Target="../media/image59.jpeg"/><Relationship Id="rId4" Type="http://schemas.openxmlformats.org/officeDocument/2006/relationships/image" Target="../media/image1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69.png"/><Relationship Id="rId4" Type="http://schemas.openxmlformats.org/officeDocument/2006/relationships/image" Target="../media/image6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71.jpeg"/><Relationship Id="rId4" Type="http://schemas.openxmlformats.org/officeDocument/2006/relationships/image" Target="../media/image7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73.png"/><Relationship Id="rId4" Type="http://schemas.openxmlformats.org/officeDocument/2006/relationships/image" Target="../media/image7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75.png"/><Relationship Id="rId5" Type="http://schemas.openxmlformats.org/officeDocument/2006/relationships/image" Target="../media/image74.emf"/><Relationship Id="rId4" Type="http://schemas.openxmlformats.org/officeDocument/2006/relationships/oleObject" Target="../embeddings/oleObject2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6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uteejNCW02w?feature=oembed" TargetMode="External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uno-matchup.streamlit.app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stanford.edu/class/aa228/reports/2020/final79.pdf" TargetMode="External"/><Relationship Id="rId3" Type="http://schemas.openxmlformats.org/officeDocument/2006/relationships/notesSlide" Target="../notesSlides/notesSlide17.xml"/><Relationship Id="rId7" Type="http://schemas.openxmlformats.org/officeDocument/2006/relationships/hyperlink" Target="https://en.wikipedia.org/wiki/Uno_(card_game)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hyperlink" Target="https://www.unorules.com/uno-trivia-stuff-and-facts/" TargetMode="External"/><Relationship Id="rId5" Type="http://schemas.openxmlformats.org/officeDocument/2006/relationships/image" Target="../media/image79.emf"/><Relationship Id="rId10" Type="http://schemas.openxmlformats.org/officeDocument/2006/relationships/hyperlink" Target="https://www.researchgate.net/publication/45906238_The_complexity_of_UNO" TargetMode="External"/><Relationship Id="rId4" Type="http://schemas.openxmlformats.org/officeDocument/2006/relationships/oleObject" Target="../embeddings/oleObject19.bin"/><Relationship Id="rId9" Type="http://schemas.openxmlformats.org/officeDocument/2006/relationships/hyperlink" Target="https://www.diva-portal.org/smash/record.jsf?pid=diva2%3A1955734&amp;dswid=-5242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Relationship Id="rId5" Type="http://schemas.openxmlformats.org/officeDocument/2006/relationships/image" Target="../media/image81.png"/><Relationship Id="rId4" Type="http://schemas.openxmlformats.org/officeDocument/2006/relationships/image" Target="../media/image80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Relationship Id="rId4" Type="http://schemas.openxmlformats.org/officeDocument/2006/relationships/image" Target="../media/image8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8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5.jpeg"/><Relationship Id="rId2" Type="http://schemas.openxmlformats.org/officeDocument/2006/relationships/video" Target="https://www.youtube.com/embed/lOtfyg6fteI?feature=oembed" TargetMode="External"/><Relationship Id="rId1" Type="http://schemas.openxmlformats.org/officeDocument/2006/relationships/tags" Target="../tags/tag37.x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8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1C3B9B4-F8AB-FE37-8AF6-5D5685E0E5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1157020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C3B9B4-F8AB-FE37-8AF6-5D5685E0E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3A4A742-371D-3C5F-1C01-39799A9E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11" y="1853223"/>
            <a:ext cx="9144000" cy="1909763"/>
          </a:xfrm>
        </p:spPr>
        <p:txBody>
          <a:bodyPr vert="horz">
            <a:normAutofit/>
          </a:bodyPr>
          <a:lstStyle/>
          <a:p>
            <a:pPr algn="l">
              <a:lnSpc>
                <a:spcPct val="105000"/>
              </a:lnSpc>
            </a:pPr>
            <a:r>
              <a:rPr lang="en-US" b="1">
                <a:solidFill>
                  <a:srgbClr val="FFFFFF"/>
                </a:solidFill>
                <a:ea typeface="Calibri" pitchFamily="34" charset="-122"/>
              </a:rPr>
              <a:t>UNO Agent Arena</a:t>
            </a:r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89C86D0-C57D-A886-DDC5-700E634C1049}"/>
              </a:ext>
            </a:extLst>
          </p:cNvPr>
          <p:cNvSpPr/>
          <p:nvPr/>
        </p:nvSpPr>
        <p:spPr>
          <a:xfrm>
            <a:off x="0" y="-8709"/>
            <a:ext cx="1220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DE" sz="135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FD2C8C7F-A8A6-A29C-CDA1-7D7EA28A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99" y="1716235"/>
            <a:ext cx="4445873" cy="311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D4CF0C-97CF-9FC8-E4A3-AB315A8D30E9}"/>
              </a:ext>
            </a:extLst>
          </p:cNvPr>
          <p:cNvSpPr txBox="1"/>
          <p:nvPr/>
        </p:nvSpPr>
        <p:spPr>
          <a:xfrm>
            <a:off x="334944" y="4026026"/>
            <a:ext cx="6273479" cy="21390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900" i="1">
                <a:solidFill>
                  <a:srgbClr val="F5A6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Machine Learning 2 - Group 1 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Cui(Cathy) Yu</a:t>
            </a:r>
          </a:p>
          <a:p>
            <a:pPr marL="799465" lvl="1" indent="-342900">
              <a:buFontTx/>
              <a:buChar char="ø"/>
            </a:pP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Shravani</a:t>
            </a: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 Mahadeshwar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Priya </a:t>
            </a: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Botsa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Marc Hayes </a:t>
            </a:r>
          </a:p>
          <a:p>
            <a:pPr marL="799465" lvl="1" indent="-342900">
              <a:buFontTx/>
              <a:buChar char="ø"/>
            </a:pP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Shaonan</a:t>
            </a: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 Feng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Di Yang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1E2D0-EA35-A231-4EFB-C219951F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99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0187-A02C-BDE0-3E48-24FDB58D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540000" tIns="45720" rIns="91440" bIns="45720" anchor="ctr" anchorCtr="0"/>
          <a:lstStyle/>
          <a:p>
            <a:r>
              <a:rPr lang="en-US" sz="4000">
                <a:latin typeface="Arial"/>
                <a:cs typeface="Arial"/>
              </a:rPr>
              <a:t>Objectives</a:t>
            </a:r>
            <a:endParaRPr lang="en-US" sz="4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83F93-95E4-E3D8-F3E6-66811E696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70362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/>
              <a:t>Analyze performance of various agents (algorithms) playing UNO in a 2-player match (one versus one)</a:t>
            </a:r>
          </a:p>
          <a:p>
            <a:pPr marL="285750" indent="-285750">
              <a:buFont typeface="Arial" panose="020B0604020202020204" pitchFamily="34" charset="0"/>
              <a:buChar char="ø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 i="1"/>
              <a:t>Is there an unbeatable agent?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/>
              <a:t>Can </a:t>
            </a:r>
            <a:r>
              <a:rPr lang="en-US" sz="2000" i="1"/>
              <a:t>you</a:t>
            </a:r>
            <a:r>
              <a:rPr lang="en-US" sz="2000"/>
              <a:t> beat our UNO agents?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44082-E745-50D7-2868-4AC42A99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</a:t>
            </a:fld>
            <a:endParaRPr lang="LID4096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824728EB-8660-143A-B5EC-3046EFEDD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740910"/>
            <a:ext cx="6172200" cy="33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9376-87FB-79F8-C377-68BEBA7E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F78DB90-E0CE-A6B3-2C50-12E5628697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78DB90-E0CE-A6B3-2C50-12E5628697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0365FC-889A-B2FE-8B5F-AB6F2CE3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540000" tIns="45720" rIns="91440" bIns="45720" anchor="ctr" anchorCtr="0"/>
          <a:lstStyle/>
          <a:p>
            <a:r>
              <a:rPr lang="en-US">
                <a:latin typeface="Arial"/>
                <a:cs typeface="Arial"/>
              </a:rPr>
              <a:t>Contents</a:t>
            </a:r>
            <a:endParaRPr lang="LID4096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DDB40-54E5-750E-873F-075EA34C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981" y="1318461"/>
            <a:ext cx="11072438" cy="4858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Uno rules &amp; Game set up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Heuristic-Based Agents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Reinforcement Learning (RL) Agent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	Information Set Monte Carlo Tree Search (ISMCTS) Agent</a:t>
            </a:r>
            <a:endParaRPr lang="en-US" altLang="zh-CN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		Analysis &amp; Takeaways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AAF09-A93B-3545-1F6E-B453A06E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</a:t>
            </a:fld>
            <a:endParaRPr lang="en-GB"/>
          </a:p>
        </p:txBody>
      </p:sp>
      <p:pic>
        <p:nvPicPr>
          <p:cNvPr id="1026" name="Picture 2" descr="Number Cards | Uno Wiki | Fandom">
            <a:extLst>
              <a:ext uri="{FF2B5EF4-FFF2-40B4-BE49-F238E27FC236}">
                <a16:creationId xmlns:a16="http://schemas.microsoft.com/office/drawing/2014/main" id="{7914D2F5-D308-A96F-D65E-6796BFFD3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32" y="1465625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O!™ - Official UNO™ mobile game">
            <a:extLst>
              <a:ext uri="{FF2B5EF4-FFF2-40B4-BE49-F238E27FC236}">
                <a16:creationId xmlns:a16="http://schemas.microsoft.com/office/drawing/2014/main" id="{A8534BAB-DB3D-E241-32E9-5F88EA039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793" y="2320611"/>
            <a:ext cx="46989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umber Cards | Uno Wiki | Fandom">
            <a:extLst>
              <a:ext uri="{FF2B5EF4-FFF2-40B4-BE49-F238E27FC236}">
                <a16:creationId xmlns:a16="http://schemas.microsoft.com/office/drawing/2014/main" id="{7A7F6972-87E1-76AC-F21C-5F669B79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167" y="3117407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umber Cards | Uno Wiki | Fandom">
            <a:extLst>
              <a:ext uri="{FF2B5EF4-FFF2-40B4-BE49-F238E27FC236}">
                <a16:creationId xmlns:a16="http://schemas.microsoft.com/office/drawing/2014/main" id="{F50BBBF0-43EC-ECCE-9391-7EA0DC3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553" y="4043045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umber Cards | Uno Wiki | Fandom">
            <a:extLst>
              <a:ext uri="{FF2B5EF4-FFF2-40B4-BE49-F238E27FC236}">
                <a16:creationId xmlns:a16="http://schemas.microsoft.com/office/drawing/2014/main" id="{01585810-D59F-F311-63E1-88FC982DE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865" y="4819539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2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AF55-353A-4C44-F8A3-6C671986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171CB2E-CBFE-A83C-B23D-2119203B7C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71CB2E-CBFE-A83C-B23D-2119203B7C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3E596-C03C-F909-7346-4DE1DA50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73E5C-BF37-68A5-9E0E-4FFDE2B4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93377"/>
            <a:ext cx="10650124" cy="3092017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</a:pP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Uno rules &amp; Game set up</a:t>
            </a:r>
            <a:endParaRPr lang="en-US" sz="6000"/>
          </a:p>
        </p:txBody>
      </p:sp>
      <p:pic>
        <p:nvPicPr>
          <p:cNvPr id="1026" name="Picture 2" descr="Number Cards | Uno Wiki | Fandom">
            <a:extLst>
              <a:ext uri="{FF2B5EF4-FFF2-40B4-BE49-F238E27FC236}">
                <a16:creationId xmlns:a16="http://schemas.microsoft.com/office/drawing/2014/main" id="{6FC84247-5398-4121-06AE-B9EBBC33E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72" y="1994220"/>
            <a:ext cx="2048419" cy="312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39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F21EACAC-E143-2537-0A33-7829D031DF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288264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1EACAC-E143-2537-0A33-7829D031DF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D21147-F4C6-0DF0-2B88-510C8024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About The UNO® Card Game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7A44D-6358-64BE-6D8C-EC730621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Originally developed in 1971 by Merle Robbins</a:t>
            </a:r>
          </a:p>
          <a:p>
            <a:r>
              <a:rPr lang="en-US"/>
              <a:t>Acquired by Mattel on January 23, 1992</a:t>
            </a:r>
          </a:p>
          <a:p>
            <a:r>
              <a:rPr lang="en-US"/>
              <a:t>Available in 80+ countries  </a:t>
            </a:r>
          </a:p>
          <a:p>
            <a:r>
              <a:rPr lang="en-US"/>
              <a:t>150+ million copies sold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 standard deck consists of 108 cards </a:t>
            </a:r>
          </a:p>
          <a:p>
            <a:pPr lvl="1"/>
            <a:r>
              <a:rPr lang="en-US"/>
              <a:t>Four colors:	(</a:t>
            </a:r>
            <a:r>
              <a:rPr lang="en-US">
                <a:solidFill>
                  <a:srgbClr val="FF0000"/>
                </a:solidFill>
              </a:rPr>
              <a:t>Red</a:t>
            </a:r>
            <a:r>
              <a:rPr lang="en-US"/>
              <a:t> </a:t>
            </a:r>
            <a:r>
              <a:rPr lang="en-AS"/>
              <a:t>●</a:t>
            </a:r>
            <a:r>
              <a:rPr lang="en-US"/>
              <a:t>, </a:t>
            </a:r>
            <a:r>
              <a:rPr lang="en-US">
                <a:solidFill>
                  <a:srgbClr val="00B050"/>
                </a:solidFill>
              </a:rPr>
              <a:t>Green</a:t>
            </a:r>
            <a:r>
              <a:rPr lang="en-US"/>
              <a:t> </a:t>
            </a:r>
            <a:r>
              <a:rPr lang="en-AS"/>
              <a:t>▼</a:t>
            </a:r>
            <a:r>
              <a:rPr lang="en-US"/>
              <a:t>, </a:t>
            </a:r>
            <a:r>
              <a:rPr lang="en-US">
                <a:solidFill>
                  <a:srgbClr val="2E75B6"/>
                </a:solidFill>
              </a:rPr>
              <a:t>Blue</a:t>
            </a:r>
            <a:r>
              <a:rPr lang="en-US"/>
              <a:t> </a:t>
            </a:r>
            <a:r>
              <a:rPr lang="en-AS"/>
              <a:t>■</a:t>
            </a:r>
            <a:r>
              <a:rPr lang="en-US"/>
              <a:t>, </a:t>
            </a:r>
            <a:r>
              <a:rPr lang="en-US">
                <a:solidFill>
                  <a:srgbClr val="FFFF00"/>
                </a:solidFill>
              </a:rPr>
              <a:t>Yellow</a:t>
            </a:r>
            <a:r>
              <a:rPr lang="en-US"/>
              <a:t> </a:t>
            </a:r>
            <a:r>
              <a:rPr lang="en-AS"/>
              <a:t>✦</a:t>
            </a:r>
            <a:r>
              <a:rPr lang="en-US"/>
              <a:t>) symbols for accessibility </a:t>
            </a:r>
          </a:p>
          <a:p>
            <a:pPr lvl="1"/>
            <a:r>
              <a:rPr lang="en-US"/>
              <a:t>Number Cards:	Numbers 0-9, where 0 appears once, 1-9 twice per color</a:t>
            </a:r>
          </a:p>
          <a:p>
            <a:pPr lvl="1"/>
            <a:r>
              <a:rPr lang="en-US"/>
              <a:t>Action Cards: 	Draw Two (+2), Reverse (↗↙),  Skip (ø), two copies each per color</a:t>
            </a:r>
          </a:p>
          <a:p>
            <a:pPr lvl="1"/>
            <a:r>
              <a:rPr lang="en-US"/>
              <a:t>Wild Cards:	Wild and Wild Draw Four, four copies each</a:t>
            </a:r>
          </a:p>
          <a:p>
            <a:pPr lvl="1"/>
            <a:r>
              <a:rPr lang="en-US">
                <a:solidFill>
                  <a:schemeClr val="bg1">
                    <a:lumMod val="75000"/>
                  </a:schemeClr>
                </a:solidFill>
              </a:rPr>
              <a:t>(112 with added cards like 3x Wild Customizable Cards and 1x Wild Shuffle Hands)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3CE101-F70F-E165-98C1-F04F9396EC33}"/>
              </a:ext>
            </a:extLst>
          </p:cNvPr>
          <p:cNvGrpSpPr/>
          <p:nvPr/>
        </p:nvGrpSpPr>
        <p:grpSpPr>
          <a:xfrm>
            <a:off x="7360025" y="860612"/>
            <a:ext cx="3993776" cy="3415554"/>
            <a:chOff x="7658235" y="242563"/>
            <a:chExt cx="4269522" cy="37863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FF3A30-D416-1C0B-96AB-921713469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3" t="1057"/>
            <a:stretch>
              <a:fillRect/>
            </a:stretch>
          </p:blipFill>
          <p:spPr>
            <a:xfrm>
              <a:off x="7719646" y="298938"/>
              <a:ext cx="4152981" cy="3702356"/>
            </a:xfrm>
            <a:prstGeom prst="rect">
              <a:avLst/>
            </a:prstGeom>
            <a:effectLst/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8FAFA6-AB79-ACE9-F483-129C4A338ECA}"/>
                </a:ext>
              </a:extLst>
            </p:cNvPr>
            <p:cNvSpPr/>
            <p:nvPr/>
          </p:nvSpPr>
          <p:spPr>
            <a:xfrm rot="60000">
              <a:off x="7658235" y="2096423"/>
              <a:ext cx="291857" cy="1904419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2CCBAF-CE79-58C1-DD33-D290BCCAFC23}"/>
                </a:ext>
              </a:extLst>
            </p:cNvPr>
            <p:cNvSpPr/>
            <p:nvPr/>
          </p:nvSpPr>
          <p:spPr>
            <a:xfrm rot="16200000">
              <a:off x="9839022" y="1995275"/>
              <a:ext cx="77919" cy="3989290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0A5334-EFE8-631B-EB4B-D5821BE55907}"/>
                </a:ext>
              </a:extLst>
            </p:cNvPr>
            <p:cNvSpPr/>
            <p:nvPr/>
          </p:nvSpPr>
          <p:spPr>
            <a:xfrm rot="21540000">
              <a:off x="11795337" y="242563"/>
              <a:ext cx="132420" cy="3785605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C73F-7F8D-631F-8389-5E2A4BF5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86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B80F29-2F41-FDBC-726C-393519D5D3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518167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B80F29-2F41-FDBC-726C-393519D5D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E63CA83-63AC-FF8D-0444-AFCB5F5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How UNO® Is Played</a:t>
            </a:r>
            <a:endParaRPr lang="LID4096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D8C080-EBA8-54FB-BF44-42719F113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705507" cy="43513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Setup: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Choose a dealer and shuffle cards. </a:t>
            </a:r>
            <a:br>
              <a:rPr lang="en-US" sz="2600"/>
            </a:br>
            <a:r>
              <a:rPr lang="en-US" sz="2600" i="1"/>
              <a:t>(No designated dealer in our program)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Deal 7 cards to each player.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Place the remaining cards </a:t>
            </a:r>
            <a:r>
              <a:rPr lang="en-US" sz="2600" b="1"/>
              <a:t>FACEDOWN</a:t>
            </a:r>
            <a:r>
              <a:rPr lang="en-US" sz="2600"/>
              <a:t> in the center of the table. This is the </a:t>
            </a:r>
            <a:r>
              <a:rPr lang="en-US" sz="2600" b="1"/>
              <a:t>DRAW PILE</a:t>
            </a:r>
            <a:r>
              <a:rPr lang="en-US" sz="2600"/>
              <a:t>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Flip over the top card of the </a:t>
            </a:r>
            <a:r>
              <a:rPr lang="en-US" sz="2600" b="1"/>
              <a:t>DRAW PILE</a:t>
            </a:r>
            <a:r>
              <a:rPr lang="en-US" sz="2600"/>
              <a:t> and place it </a:t>
            </a:r>
            <a:r>
              <a:rPr lang="en-US" sz="2600" b="1"/>
              <a:t>FACEUP</a:t>
            </a:r>
            <a:r>
              <a:rPr lang="en-US" sz="2600"/>
              <a:t> to form the </a:t>
            </a:r>
            <a:r>
              <a:rPr lang="en-US" sz="2600" b="1"/>
              <a:t>DISCARD PILE</a:t>
            </a:r>
            <a:r>
              <a:rPr lang="en-US" sz="2600"/>
              <a:t>. If this is an Action Card, ignore it and flip over the next card.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The player to the left of the dealer goes first and play proceeds clockwise.</a:t>
            </a:r>
            <a:br>
              <a:rPr lang="en-US" sz="2600"/>
            </a:br>
            <a:r>
              <a:rPr lang="en-US" sz="2600" i="1"/>
              <a:t>(Player 1 is the starting player in our program)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5EE1ED-BC32-5EED-4273-C482DE85A5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901" y="1003769"/>
            <a:ext cx="2960903" cy="5173199"/>
          </a:xfrm>
          <a:prstGeom prst="rect">
            <a:avLst/>
          </a:prstGeom>
          <a:ln>
            <a:solidFill>
              <a:srgbClr val="A8140C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C2FAC-6080-33CC-96B9-9A9D63B8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44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DAA6CDF-0A8D-2A5C-6FB8-8EC54A3E22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660992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AA6CDF-0A8D-2A5C-6FB8-8EC54A3E2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F3E4DC-3482-D9F8-6598-43BEDC6C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UNO® Action And Wild Cards</a:t>
            </a:r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7CE41-28FA-F5A7-2619-447F53C39964}"/>
              </a:ext>
            </a:extLst>
          </p:cNvPr>
          <p:cNvSpPr txBox="1"/>
          <p:nvPr/>
        </p:nvSpPr>
        <p:spPr>
          <a:xfrm>
            <a:off x="1758403" y="3396248"/>
            <a:ext cx="83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 (ø):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next player loses their turn.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09DCF-F650-B29F-2C75-7166792E5227}"/>
              </a:ext>
            </a:extLst>
          </p:cNvPr>
          <p:cNvSpPr txBox="1"/>
          <p:nvPr/>
        </p:nvSpPr>
        <p:spPr>
          <a:xfrm>
            <a:off x="1900980" y="4146491"/>
            <a:ext cx="8532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matches anything so you can play it no matter what card is on the Discard Pile. When you play a Wild card, you also get to choose the color that continues play.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F46D2-6839-0E27-0E67-EDADDE99A865}"/>
              </a:ext>
            </a:extLst>
          </p:cNvPr>
          <p:cNvSpPr txBox="1"/>
          <p:nvPr/>
        </p:nvSpPr>
        <p:spPr>
          <a:xfrm>
            <a:off x="1758400" y="1476984"/>
            <a:ext cx="8352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Two (+2):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next player must draw 2 cards and lose their turn</a:t>
            </a:r>
            <a:endParaRPr lang="LID4096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85250-EEF1-EACC-C009-01332AA03468}"/>
              </a:ext>
            </a:extLst>
          </p:cNvPr>
          <p:cNvSpPr txBox="1"/>
          <p:nvPr/>
        </p:nvSpPr>
        <p:spPr>
          <a:xfrm>
            <a:off x="2081270" y="2186203"/>
            <a:ext cx="8352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 (↗↙):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direction of the play is reversed.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play was moving clockwise, it now moves counterclockwise and vice versa.</a:t>
            </a:r>
          </a:p>
          <a:p>
            <a:pPr algn="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two-player match the Reverse works like Skip.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38E79-4825-6147-A064-868D354DD4B9}"/>
              </a:ext>
            </a:extLst>
          </p:cNvPr>
          <p:cNvSpPr txBox="1"/>
          <p:nvPr/>
        </p:nvSpPr>
        <p:spPr>
          <a:xfrm>
            <a:off x="1758402" y="5166496"/>
            <a:ext cx="8543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 Draw Four (+4):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matches anything so you can play it no matter what card is on the Discard Pile. When played, the next player must draw 4 cards and lose their turn.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is also a Wild card, so you get to choose the color that continues play.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No challenge mechanic! (explained in appendix)</a:t>
            </a:r>
            <a:endParaRPr lang="LID4096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437905-59F6-D8CB-531B-7976911E80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8" t="23554" r="27753" b="19806"/>
          <a:stretch>
            <a:fillRect/>
          </a:stretch>
        </p:blipFill>
        <p:spPr>
          <a:xfrm>
            <a:off x="576569" y="1375860"/>
            <a:ext cx="1020401" cy="16459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B023E5-D481-4C22-14E4-E28E606571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6" t="27379" r="28739" b="22443"/>
          <a:stretch>
            <a:fillRect/>
          </a:stretch>
        </p:blipFill>
        <p:spPr>
          <a:xfrm>
            <a:off x="10551837" y="2010629"/>
            <a:ext cx="1061671" cy="16459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FFBC56-C84E-1BAC-CFDA-9A8A2B302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9" t="26769" r="32268" b="24648"/>
          <a:stretch>
            <a:fillRect/>
          </a:stretch>
        </p:blipFill>
        <p:spPr>
          <a:xfrm>
            <a:off x="583565" y="3202217"/>
            <a:ext cx="1017215" cy="1645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FFB220-0803-EA6A-5485-6A58DFF999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t="27277" r="26929" b="15912"/>
          <a:stretch>
            <a:fillRect/>
          </a:stretch>
        </p:blipFill>
        <p:spPr>
          <a:xfrm>
            <a:off x="10556281" y="4001309"/>
            <a:ext cx="1035023" cy="16459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41D2FE2-159D-55A6-3BA2-49BA0495F5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9" t="28804" r="27382" b="16845"/>
          <a:stretch>
            <a:fillRect/>
          </a:stretch>
        </p:blipFill>
        <p:spPr>
          <a:xfrm rot="10800000">
            <a:off x="583564" y="5086439"/>
            <a:ext cx="1063373" cy="16459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24E4B-3AE2-3FAF-3E22-E50AB895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4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FDD8-C8A8-4976-CF7E-75034A3B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59418-58EB-323E-3843-CFCB17C19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727140-D221-1727-4EE7-1E2ABD8AC1C4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F85A0-326B-74D8-225B-5206BBCE34A4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ED49F-1DCB-1E26-F843-24AE7676E42B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7246C-66AC-7141-6423-4787C89D2EB9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9B5CF6-305E-652A-B03E-20FED09652C1}"/>
              </a:ext>
            </a:extLst>
          </p:cNvPr>
          <p:cNvSpPr/>
          <p:nvPr/>
        </p:nvSpPr>
        <p:spPr>
          <a:xfrm>
            <a:off x="600891" y="3492137"/>
            <a:ext cx="5408023" cy="831719"/>
          </a:xfrm>
          <a:prstGeom prst="rect">
            <a:avLst/>
          </a:prstGeom>
          <a:solidFill>
            <a:srgbClr val="E7CF04">
              <a:alpha val="20000"/>
            </a:srgbClr>
          </a:solidFill>
          <a:ln w="38100">
            <a:solidFill>
              <a:srgbClr val="E7C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E7CF04"/>
                </a:solidFill>
              </a:rPr>
              <a:t>Discard Pile</a:t>
            </a:r>
            <a:endParaRPr lang="LID4096" sz="2000" b="1">
              <a:solidFill>
                <a:srgbClr val="E7CF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05E04-787E-4AD0-C85F-7E5B6406B4F9}"/>
              </a:ext>
            </a:extLst>
          </p:cNvPr>
          <p:cNvSpPr/>
          <p:nvPr/>
        </p:nvSpPr>
        <p:spPr>
          <a:xfrm>
            <a:off x="6095999" y="3492137"/>
            <a:ext cx="5408023" cy="831719"/>
          </a:xfrm>
          <a:prstGeom prst="rect">
            <a:avLst/>
          </a:prstGeom>
          <a:solidFill>
            <a:srgbClr val="5E7C22">
              <a:alpha val="20000"/>
            </a:srgbClr>
          </a:solidFill>
          <a:ln w="38100">
            <a:solidFill>
              <a:srgbClr val="5E7C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5E7C22"/>
                </a:solidFill>
              </a:rPr>
              <a:t>Draw Pile</a:t>
            </a:r>
            <a:endParaRPr lang="LID4096" sz="2000" b="1">
              <a:solidFill>
                <a:srgbClr val="5E7C2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028F74-4C85-A76F-AA77-91E85B43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BC8F2-FEF6-830A-0E39-0F7A1526D403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93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00CF-0656-D2E7-4A15-BC0F9C90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D65B26-3CA3-226E-52CB-3704C627C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FE797-9F29-D1C9-E23B-18A54ABE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0A723-B385-3C2A-40C0-CBF679616D8A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25D4A-C663-402F-1EE0-E41F0DC8B3DC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</a:t>
            </a:r>
            <a:r>
              <a:rPr lang="en-US" b="1">
                <a:solidFill>
                  <a:srgbClr val="A8140C"/>
                </a:solidFill>
              </a:rPr>
              <a:t> 2</a:t>
            </a:r>
            <a:endParaRPr lang="LID4096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D8039-966E-883B-8E23-FD3AB0CCD4C6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AA1FD-2A7D-88BD-AD83-5750714414F4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</a:t>
            </a:r>
            <a:r>
              <a:rPr lang="en-US" b="1">
                <a:solidFill>
                  <a:srgbClr val="144486"/>
                </a:solidFill>
              </a:rPr>
              <a:t> 1</a:t>
            </a:r>
            <a:endParaRPr lang="LID4096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4F743-6D4D-34E7-9E8B-A91C079F9DB6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Green 3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7FF0-73CA-690E-C764-B6384C34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B1ED6-662D-4BA5-6DFC-801C97DA99AC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13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BD38-7EB0-C83C-F377-35D1917F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9560-9493-1817-7376-5F346CAD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32BB07-4C6E-03C5-BB3E-EA1454FF4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711DB8-56E3-9003-E7EB-7F57AA372ADD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86955-0DA7-ACEF-BCA1-1CE6ADE1A708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0521C2-107A-062B-941F-874B8BC606B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D8E0B-D3CA-8A24-5F5B-5C8FC33255E0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F8FD9-D719-2970-5F0A-DDFB212CFA72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Blue 3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06C58-2D7C-6253-FBFA-C01704B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8FD34-B280-4320-3947-08F325B14E9D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71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5D88-9A45-D553-1327-36C262CE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7B2603-93ED-981F-1054-7786B8B46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6BD36-B069-DC30-9CA3-1FA69CFB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6C86-9901-CE9C-E5B7-7AEA239AFBFD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42D39-1CEB-B659-49F6-2A8E9374C0A9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D90CDB-20DB-EDF9-C9CB-BEC522FBD1C0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69622-FE03-C613-E303-D08C541CAAF1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A7AFC-4652-C277-1D8E-38371B568F1B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Blue 7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6B1C-7687-FF8B-888C-CBF51D5A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C1B0D-8464-BE6B-0AFB-6D1CA9730DD3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75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560A-8B63-A43C-2367-49DEA74E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32B8845-406D-3541-8758-E8161674F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A81B80-7634-D227-81A6-451B7FF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D5110-12B6-A54F-3184-892F0BA71650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F558E-44BB-C446-9F41-A365E8302A96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DEC71-26FE-DE83-338C-DDA4760CBF6E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BA7E9-8B93-0A57-6CF6-62CB5C84A28A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BAB0-C576-9B6E-6F6E-91FC44CFFE28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Blue 4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4FC2A-71A8-2D51-3A51-1C176C4E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533B6-E444-C807-4B82-B54335BB0BF9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76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B3CF-AF58-7965-3C7A-8D857ADE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CC5EA0B-4850-D071-A9DF-731F80302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483C2-8C8D-87EC-BE5A-FBD01632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C982D-BA2E-0B78-1980-655B22B0B3C2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F9B42-50CD-94D6-C29B-1100045E7A8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E29208-03B2-D351-D33C-5AC68A3D63C6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34F7B-837C-654A-5AA6-7EE5EC1F4B94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68D78-46ED-A7A0-0C6C-EAC4767B2663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Yellow 4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4E87-ED56-BA2C-0C53-6C37C5C1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B2B7A-20C7-B0EA-6C53-14A23C299737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904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E281-CF0E-FD11-3070-73E983F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3D80-4F26-BD23-08D4-FF32CA9B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3DC1BAC-5EBB-4440-53F8-669E9BF3D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31070-0073-3030-EDD0-8F11B161D39B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ACE68-B064-62CC-E43E-5DBF33FA7C0E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2936B-C0B7-9862-837B-86B98AD31BE1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20DA-E739-740C-4D37-EE04E0B2A4CC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7DE70-D79C-E4E6-6091-76B1C4FF91A5}"/>
              </a:ext>
            </a:extLst>
          </p:cNvPr>
          <p:cNvSpPr txBox="1"/>
          <p:nvPr/>
        </p:nvSpPr>
        <p:spPr>
          <a:xfrm>
            <a:off x="531222" y="1825625"/>
            <a:ext cx="3857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Yellow Reverse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016D5-CDCE-0738-7FC7-9018124D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43B92-D24B-2CEB-AD78-7ACB173858E9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63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872A-4D24-F40E-F583-5E1375ED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F20F-3098-35C4-0B8B-31342005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6318E79-50D8-4586-246A-87A64034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5521F4-6A2C-73DA-F99F-6C5935224429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CB945-22AF-D215-F6DB-C3D0BB3386A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0ABAE6-B1D4-1453-7034-06BAD73794BD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5DCB7-E376-1360-AB84-978BCDD9D77F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CA9E9-E39B-EB53-3A19-204B3D00EED4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Red Reverse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73439-7929-069F-C267-408A97B5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F2F4F-2B8B-3982-7BBE-645AE41075DE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5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B965-5FFF-0EDA-5B68-24DC7C6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C0E6568-2059-575A-D2E4-4C9A6B9EC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BBE597-A107-46C9-7260-8B92D973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61E2A-6A1A-9224-320E-A82FEEA06C32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DB68C-3812-647B-BCC5-CBCD1BC3088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F70C6-A26F-55B2-6085-7CBCD1BFEDAA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C29D7-16A2-171B-2CA3-CF062EE6C503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6F40-E975-CDE7-E1A2-A5AA0BD945FF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Red Skip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F1E65-E843-1FC3-D198-3FE4000C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121FF-FC7A-818C-8AC8-D44FB1629C18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7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B999-1B96-8084-EC0C-3850CB2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7A6EBAD-6062-236B-F8BB-CC3A7B3AB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B2A4D-E8EC-F2D5-DA86-A6084B76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6A0099-E731-F8BF-C229-451A4C83E03C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0D2CD-1337-069A-463F-263DCC6EDEA8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214EE905-0202-8484-93B5-C695E1D4282F}"/>
              </a:ext>
            </a:extLst>
          </p:cNvPr>
          <p:cNvSpPr/>
          <p:nvPr/>
        </p:nvSpPr>
        <p:spPr>
          <a:xfrm>
            <a:off x="8186057" y="4336869"/>
            <a:ext cx="2447108" cy="1103570"/>
          </a:xfrm>
          <a:prstGeom prst="wedgeRectCallout">
            <a:avLst>
              <a:gd name="adj1" fmla="val -82232"/>
              <a:gd name="adj2" fmla="val 90743"/>
            </a:avLst>
          </a:prstGeom>
          <a:solidFill>
            <a:schemeClr val="bg1"/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</a:rPr>
              <a:t>UNO !</a:t>
            </a:r>
            <a:endParaRPr lang="LID4096" sz="280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CC2EE-E4AC-BE8D-C12A-9CF1DF8588C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18D19-2E39-95B7-C76F-B853509BFDBC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401CD-5FE8-6D74-B465-C308EFB14C59}"/>
              </a:ext>
            </a:extLst>
          </p:cNvPr>
          <p:cNvSpPr txBox="1"/>
          <p:nvPr/>
        </p:nvSpPr>
        <p:spPr>
          <a:xfrm>
            <a:off x="531223" y="1825625"/>
            <a:ext cx="372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Green Skip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Player 1 calls out “UNO!”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DAAC5-1BDC-EAFE-B101-0813996A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DB717-8A52-AC8A-0E5C-6EEF042CFAD5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394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9BA2-4C7F-D608-6BEB-C1A4FA08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881A2AE-BF45-58FF-8566-FE1B8CF56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B67D0-D439-3B58-8B83-52D5281F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A049B-A9B5-95CE-A9CE-379FD841CDD8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50C57-B1EC-877D-995A-AAD537139878}"/>
              </a:ext>
            </a:extLst>
          </p:cNvPr>
          <p:cNvSpPr txBox="1"/>
          <p:nvPr/>
        </p:nvSpPr>
        <p:spPr>
          <a:xfrm>
            <a:off x="7727751" y="2442646"/>
            <a:ext cx="129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A8140C"/>
                </a:solidFill>
              </a:rPr>
              <a:t>Player 2</a:t>
            </a:r>
            <a:endParaRPr lang="LID4096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092FB-14AE-8505-2795-D128189C6D3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01042-B465-1BE3-51C0-C1CA1B9426F3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</a:t>
            </a:r>
            <a:r>
              <a:rPr lang="en-US" b="1">
                <a:solidFill>
                  <a:srgbClr val="144486"/>
                </a:solidFill>
              </a:rPr>
              <a:t> 1</a:t>
            </a:r>
            <a:endParaRPr lang="LID4096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D1425-ED67-7751-BAAB-B39016805E2F}"/>
              </a:ext>
            </a:extLst>
          </p:cNvPr>
          <p:cNvSpPr txBox="1"/>
          <p:nvPr/>
        </p:nvSpPr>
        <p:spPr>
          <a:xfrm>
            <a:off x="531223" y="1825625"/>
            <a:ext cx="372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Wild Draw 4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Player 1 wins the match!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33E38-2D42-96CE-6B91-39B9D4C6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F526C-925E-219E-C750-D121358653DD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312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668C78E-B519-F1E0-7A31-D277630F5E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4582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68C78E-B519-F1E0-7A31-D277630F5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3CCA08C-3AB3-6C80-83AA-1B3FAD8B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Existing Research on Uno 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3993F-37F4-A853-7D1B-3672FC4D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Winning Uno With Reinforcement Learning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(Stanford University: O. Brown, D. Jasson, A. </a:t>
            </a:r>
            <a:r>
              <a:rPr lang="en-US" err="1"/>
              <a:t>Swarnakar</a:t>
            </a:r>
            <a:r>
              <a:rPr lang="en-US"/>
              <a:t>)</a:t>
            </a:r>
          </a:p>
          <a:p>
            <a:pPr lvl="1"/>
            <a:r>
              <a:rPr lang="en-US"/>
              <a:t>DQN and </a:t>
            </a:r>
            <a:r>
              <a:rPr lang="en-US" err="1"/>
              <a:t>DeepSARSA</a:t>
            </a:r>
            <a:r>
              <a:rPr lang="en-US"/>
              <a:t> outperform random UNO agents</a:t>
            </a:r>
          </a:p>
          <a:p>
            <a:pPr lvl="1"/>
            <a:r>
              <a:rPr lang="en-US"/>
              <a:t>DQN achieves highest win rate but converges slower than </a:t>
            </a:r>
            <a:r>
              <a:rPr lang="en-US" err="1"/>
              <a:t>DeepSARSA</a:t>
            </a:r>
            <a:endParaRPr lang="en-US"/>
          </a:p>
          <a:p>
            <a:pPr lvl="1"/>
            <a:endParaRPr lang="en-US" sz="600"/>
          </a:p>
          <a:p>
            <a:pPr marL="0" indent="0">
              <a:buNone/>
            </a:pPr>
            <a:r>
              <a:rPr lang="en-US" b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Reinforcement learning compared to rule-based play in UNO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(Stockholm University: Sara </a:t>
            </a:r>
            <a:r>
              <a:rPr lang="en-US" err="1"/>
              <a:t>Nordstr</a:t>
            </a:r>
            <a:r>
              <a:rPr lang="en-DE"/>
              <a:t>ö</a:t>
            </a:r>
            <a:r>
              <a:rPr lang="en-US"/>
              <a:t>m, Nils Ottosson)</a:t>
            </a:r>
          </a:p>
          <a:p>
            <a:pPr lvl="1"/>
            <a:r>
              <a:rPr lang="en-US"/>
              <a:t>RL models (DQN, NFSP, DMC) outperform simple rule-based agents</a:t>
            </a:r>
          </a:p>
          <a:p>
            <a:pPr lvl="1"/>
            <a:r>
              <a:rPr lang="en-US"/>
              <a:t>Rule-based strategy relies on simple heuristics and lacks adaptability</a:t>
            </a:r>
          </a:p>
          <a:p>
            <a:pPr lvl="1"/>
            <a:endParaRPr lang="en-US" sz="600"/>
          </a:p>
          <a:p>
            <a:pPr marL="0" indent="0">
              <a:buNone/>
            </a:pPr>
            <a:r>
              <a:rPr lang="en-US" b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complexity of UNO</a:t>
            </a:r>
            <a:endParaRPr lang="en-US" b="1"/>
          </a:p>
          <a:p>
            <a:pPr marL="0" indent="0">
              <a:buNone/>
            </a:pPr>
            <a:r>
              <a:rPr lang="en-US"/>
              <a:t>(E. Demaine, M. Demaine, R. Uehara, T. Uno, Y. Uno)</a:t>
            </a:r>
          </a:p>
          <a:p>
            <a:pPr lvl="1"/>
            <a:r>
              <a:rPr lang="en-US"/>
              <a:t>Formal mathematical analysis of UNO’s computational complexity</a:t>
            </a:r>
          </a:p>
          <a:p>
            <a:pPr lvl="1"/>
            <a:r>
              <a:rPr lang="en-US"/>
              <a:t>Proves UNO decision-making is NP-complete (single player) / PSPACE-complete (2-player competitive) in several settings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4718D-E6DF-C028-62E5-33876F54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19</a:t>
            </a:fld>
            <a:endParaRPr lang="LID4096"/>
          </a:p>
        </p:txBody>
      </p:sp>
      <p:pic>
        <p:nvPicPr>
          <p:cNvPr id="6" name="Graphic 5" descr="A confused face">
            <a:extLst>
              <a:ext uri="{FF2B5EF4-FFF2-40B4-BE49-F238E27FC236}">
                <a16:creationId xmlns:a16="http://schemas.microsoft.com/office/drawing/2014/main" id="{DAFD9305-441A-A9EF-225D-3DC3F8BB2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10768584" y="5118098"/>
            <a:ext cx="585216" cy="731520"/>
          </a:xfrm>
          <a:prstGeom prst="rect">
            <a:avLst/>
          </a:prstGeom>
        </p:spPr>
      </p:pic>
      <p:pic>
        <p:nvPicPr>
          <p:cNvPr id="8" name="Graphic 7" descr="Robot with solid fill">
            <a:extLst>
              <a:ext uri="{FF2B5EF4-FFF2-40B4-BE49-F238E27FC236}">
                <a16:creationId xmlns:a16="http://schemas.microsoft.com/office/drawing/2014/main" id="{F19130A5-68BA-8859-257D-56ECD3229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9400" y="1910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7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E8D82-724C-223A-B54E-292160590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714" y="1524490"/>
            <a:ext cx="5157787" cy="82391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Common Strategy</a:t>
            </a:r>
            <a:endParaRPr lang="LID4096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AC15-6321-29F0-7250-823A6DEA2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714" y="2348402"/>
            <a:ext cx="5430382" cy="368458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US"/>
          </a:p>
          <a:p>
            <a:pPr marL="227965" indent="-227965"/>
            <a:r>
              <a:rPr lang="en-US">
                <a:latin typeface="Arial"/>
                <a:cs typeface="Arial"/>
              </a:rPr>
              <a:t>Play number cards early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Use matching numbers to switch colors efficiently</a:t>
            </a:r>
            <a:endParaRPr lang="en-US"/>
          </a:p>
          <a:p>
            <a:pPr marL="227965" indent="-227965"/>
            <a:r>
              <a:rPr lang="en-US"/>
              <a:t>Save Action &amp; Wild cards for the endgame</a:t>
            </a:r>
          </a:p>
          <a:p>
            <a:pPr marL="227965" indent="-227965"/>
            <a:r>
              <a:rPr lang="en-US"/>
              <a:t>Use Draw cards against low-card opponents</a:t>
            </a:r>
          </a:p>
          <a:p>
            <a:pPr marL="227965" indent="-227965"/>
            <a:r>
              <a:rPr lang="en-US"/>
              <a:t>Chain Skip/Reverse for surprise finishes</a:t>
            </a:r>
          </a:p>
          <a:p>
            <a:pPr marL="227965" indent="-227965"/>
            <a:r>
              <a:rPr lang="en-US"/>
              <a:t>Maintain colors the opponent draws on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Force colors the opponent likely lacks</a:t>
            </a:r>
          </a:p>
          <a:p>
            <a:pPr marL="227965" indent="-227965"/>
            <a:r>
              <a:rPr lang="en-US"/>
              <a:t>Use draw cards when opponent near UNO</a:t>
            </a:r>
          </a:p>
          <a:p>
            <a:pPr marL="227965" indent="-227965"/>
            <a:r>
              <a:rPr lang="en-US" i="1"/>
              <a:t>Control tempo by denying opponent turns</a:t>
            </a:r>
          </a:p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B0DF8-4AF6-DC23-1A48-7D5339F3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9023" y="1524490"/>
            <a:ext cx="5183188" cy="823912"/>
          </a:xfrm>
        </p:spPr>
        <p:txBody>
          <a:bodyPr/>
          <a:lstStyle/>
          <a:p>
            <a:r>
              <a:rPr lang="en-US"/>
              <a:t>Game-Theory Optimal (GTO)</a:t>
            </a:r>
            <a:endParaRPr lang="LID4096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39AB9C-785F-0C9C-4100-FF759D6C1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9023" y="2191730"/>
            <a:ext cx="5548761" cy="38412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/>
          </a:p>
          <a:p>
            <a:pPr marL="227965" indent="-227965"/>
            <a:r>
              <a:rPr lang="en-US">
                <a:latin typeface="Arial"/>
                <a:cs typeface="Arial"/>
              </a:rPr>
              <a:t>No single optimal strategy</a:t>
            </a:r>
          </a:p>
          <a:p>
            <a:pPr marL="227965" indent="-227965"/>
            <a:r>
              <a:rPr lang="en-US"/>
              <a:t>Best play depends on game state</a:t>
            </a:r>
          </a:p>
          <a:p>
            <a:pPr marL="227965" indent="-227965"/>
            <a:r>
              <a:rPr lang="en-US"/>
              <a:t>Decisions adapt to hidden information</a:t>
            </a:r>
          </a:p>
          <a:p>
            <a:pPr marL="227965" indent="-227965"/>
            <a:r>
              <a:rPr lang="en-US" i="1">
                <a:latin typeface="Arial"/>
                <a:cs typeface="Arial"/>
              </a:rPr>
              <a:t>GTO strategy is approximated using </a:t>
            </a:r>
            <a:r>
              <a:rPr lang="en-US" i="1" u="sng">
                <a:latin typeface="Arial"/>
                <a:cs typeface="Arial"/>
              </a:rPr>
              <a:t>Information Set Monte Carlo Tree Search (ISMCTS</a:t>
            </a:r>
            <a:r>
              <a:rPr lang="en-US" u="sng">
                <a:latin typeface="Arial"/>
                <a:cs typeface="Arial"/>
              </a:rPr>
              <a:t>)</a:t>
            </a:r>
            <a:endParaRPr lang="LID4096" u="sng">
              <a:latin typeface="Arial"/>
              <a:cs typeface="Arial"/>
            </a:endParaRPr>
          </a:p>
          <a:p>
            <a:pPr marL="227965" indent="-227965"/>
            <a:r>
              <a:rPr lang="en-US">
                <a:latin typeface="Arial"/>
                <a:cs typeface="Arial"/>
              </a:rPr>
              <a:t>ISMCTS-Handles hidden information by re-sampling the opponent's hand each simulation over a shared search tree</a:t>
            </a:r>
            <a:endParaRPr lang="en-US"/>
          </a:p>
          <a:p>
            <a:pPr marL="227965" indent="-227965"/>
            <a:r>
              <a:rPr lang="en-US"/>
              <a:t>Comparison benchmark</a:t>
            </a:r>
            <a:endParaRPr lang="LID4096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F5CF76-B2DB-E614-B32D-EDBE105577D9}"/>
              </a:ext>
            </a:extLst>
          </p:cNvPr>
          <p:cNvSpPr txBox="1">
            <a:spLocks/>
          </p:cNvSpPr>
          <p:nvPr/>
        </p:nvSpPr>
        <p:spPr>
          <a:xfrm>
            <a:off x="0" y="-7103"/>
            <a:ext cx="12192000" cy="132556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457200">
              <a:spcBef>
                <a:spcPts val="0"/>
              </a:spcBef>
            </a:pPr>
            <a:endParaRPr lang="en-US" sz="3600"/>
          </a:p>
          <a:p>
            <a:pPr marL="457200">
              <a:spcBef>
                <a:spcPts val="0"/>
              </a:spcBef>
            </a:pPr>
            <a:r>
              <a:rPr lang="en-US"/>
              <a:t>Strategies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51024-982F-412E-BDEB-ACF6EA6D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087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F207-B0B5-60E1-8214-8C8AD3351B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b="1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A3FDF-E333-3FBA-E47C-7F70716308FA}"/>
              </a:ext>
            </a:extLst>
          </p:cNvPr>
          <p:cNvSpPr txBox="1"/>
          <p:nvPr/>
        </p:nvSpPr>
        <p:spPr>
          <a:xfrm>
            <a:off x="326573" y="-3811"/>
            <a:ext cx="11863375" cy="537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Agents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DAC03-2F59-E727-BB50-6687735A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5091" y="6356354"/>
            <a:ext cx="2743200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21</a:t>
            </a:fld>
            <a:endParaRPr lang="en-GB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AEAE99AD-F3CE-6162-1B6E-DFF7C3B98301}"/>
              </a:ext>
            </a:extLst>
          </p:cNvPr>
          <p:cNvSpPr/>
          <p:nvPr/>
        </p:nvSpPr>
        <p:spPr>
          <a:xfrm>
            <a:off x="6470122" y="2597924"/>
            <a:ext cx="4348210" cy="504143"/>
          </a:xfrm>
          <a:prstGeom prst="rect">
            <a:avLst/>
          </a:prstGeom>
          <a:solidFill>
            <a:srgbClr val="F8D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Greedy Rule Based Agent</a:t>
            </a:r>
          </a:p>
        </p:txBody>
      </p:sp>
      <p:pic>
        <p:nvPicPr>
          <p:cNvPr id="593" name="Picture 592" descr="A diagram of a game&#10;&#10;AI-generated content may be incorrect.">
            <a:extLst>
              <a:ext uri="{FF2B5EF4-FFF2-40B4-BE49-F238E27FC236}">
                <a16:creationId xmlns:a16="http://schemas.microsoft.com/office/drawing/2014/main" id="{6B85488A-9988-7DF8-6CEA-489804F4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04" y="679508"/>
            <a:ext cx="4333157" cy="1919020"/>
          </a:xfrm>
          <a:prstGeom prst="rect">
            <a:avLst/>
          </a:prstGeom>
          <a:ln>
            <a:noFill/>
          </a:ln>
        </p:spPr>
      </p:pic>
      <p:sp>
        <p:nvSpPr>
          <p:cNvPr id="585" name="Rectangle 584">
            <a:extLst>
              <a:ext uri="{FF2B5EF4-FFF2-40B4-BE49-F238E27FC236}">
                <a16:creationId xmlns:a16="http://schemas.microsoft.com/office/drawing/2014/main" id="{F0B982E3-B7A9-698D-F856-03C7C31CC040}"/>
              </a:ext>
            </a:extLst>
          </p:cNvPr>
          <p:cNvSpPr/>
          <p:nvPr/>
        </p:nvSpPr>
        <p:spPr>
          <a:xfrm>
            <a:off x="1064261" y="2609302"/>
            <a:ext cx="4218790" cy="507142"/>
          </a:xfrm>
          <a:prstGeom prst="rect">
            <a:avLst/>
          </a:prstGeom>
          <a:solidFill>
            <a:srgbClr val="E019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Random Agent</a:t>
            </a:r>
          </a:p>
        </p:txBody>
      </p:sp>
      <p:pic>
        <p:nvPicPr>
          <p:cNvPr id="594" name="Picture 593" descr="A screenshot of a game&#10;&#10;AI-generated content may be incorrect.">
            <a:extLst>
              <a:ext uri="{FF2B5EF4-FFF2-40B4-BE49-F238E27FC236}">
                <a16:creationId xmlns:a16="http://schemas.microsoft.com/office/drawing/2014/main" id="{32ED5184-CFB3-0F44-DA52-730970C06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02" y="684361"/>
            <a:ext cx="4219195" cy="1949593"/>
          </a:xfrm>
          <a:prstGeom prst="rect">
            <a:avLst/>
          </a:prstGeom>
          <a:ln>
            <a:noFill/>
          </a:ln>
        </p:spPr>
      </p:pic>
      <p:sp>
        <p:nvSpPr>
          <p:cNvPr id="587" name="Rectangle 586">
            <a:extLst>
              <a:ext uri="{FF2B5EF4-FFF2-40B4-BE49-F238E27FC236}">
                <a16:creationId xmlns:a16="http://schemas.microsoft.com/office/drawing/2014/main" id="{9351A26C-F3D7-FA0D-CB1F-7DA99AD5237C}"/>
              </a:ext>
            </a:extLst>
          </p:cNvPr>
          <p:cNvSpPr/>
          <p:nvPr/>
        </p:nvSpPr>
        <p:spPr>
          <a:xfrm>
            <a:off x="1051068" y="3633093"/>
            <a:ext cx="4204437" cy="50414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ISMCTS</a:t>
            </a:r>
            <a:endParaRPr lang="en-US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2D566F0D-DB62-7FD6-544E-8BCEA831F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258" y="4140049"/>
            <a:ext cx="4203940" cy="2215373"/>
          </a:xfrm>
          <a:prstGeom prst="rect">
            <a:avLst/>
          </a:prstGeom>
          <a:ln>
            <a:noFill/>
          </a:ln>
        </p:spPr>
      </p:pic>
      <p:sp>
        <p:nvSpPr>
          <p:cNvPr id="588" name="Rectangle 587">
            <a:extLst>
              <a:ext uri="{FF2B5EF4-FFF2-40B4-BE49-F238E27FC236}">
                <a16:creationId xmlns:a16="http://schemas.microsoft.com/office/drawing/2014/main" id="{20C859CA-E81C-BBD5-D64A-E2EF61D13F80}"/>
              </a:ext>
            </a:extLst>
          </p:cNvPr>
          <p:cNvSpPr/>
          <p:nvPr/>
        </p:nvSpPr>
        <p:spPr>
          <a:xfrm>
            <a:off x="6470123" y="3633094"/>
            <a:ext cx="4175682" cy="5041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RL Agent</a:t>
            </a:r>
            <a:endParaRPr lang="en-US"/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1CA1FBE7-43F7-578D-BAC6-B84BA7FEA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319" y="4141217"/>
            <a:ext cx="4350950" cy="2213036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8C5F75-1BE1-EEB9-E945-43C2F7ECE839}"/>
              </a:ext>
            </a:extLst>
          </p:cNvPr>
          <p:cNvSpPr/>
          <p:nvPr/>
        </p:nvSpPr>
        <p:spPr>
          <a:xfrm>
            <a:off x="5267002" y="3105509"/>
            <a:ext cx="1198784" cy="533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ea typeface="Calibri"/>
                <a:cs typeface="Calibri"/>
              </a:rPr>
              <a:t>VS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B210A-E518-1EBA-D734-C6B9787B014B}"/>
              </a:ext>
            </a:extLst>
          </p:cNvPr>
          <p:cNvSpPr txBox="1"/>
          <p:nvPr/>
        </p:nvSpPr>
        <p:spPr>
          <a:xfrm>
            <a:off x="-5939" y="6490127"/>
            <a:ext cx="111483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solidFill>
                  <a:schemeClr val="bg1"/>
                </a:solidFill>
                <a:ea typeface="+mn-lt"/>
                <a:cs typeface="+mn-lt"/>
              </a:rPr>
              <a:t>*All visuals and architectures shown here are for illustrative and conceptual purposes only.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8178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6DF9-D9C1-7C07-EAF7-0B33F93E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C58F940-E21A-32B3-B896-4179585901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58F940-E21A-32B3-B896-417958590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57CA9-9243-3750-B9B5-65E2FE7E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22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C2A07EE-42C2-825A-8603-822D3F02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93377"/>
            <a:ext cx="10650124" cy="3092017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Heuristic-Based Agents</a:t>
            </a:r>
          </a:p>
        </p:txBody>
      </p:sp>
      <p:pic>
        <p:nvPicPr>
          <p:cNvPr id="6" name="Picture 5" descr="UNO!™ - Official UNO™ mobile game">
            <a:extLst>
              <a:ext uri="{FF2B5EF4-FFF2-40B4-BE49-F238E27FC236}">
                <a16:creationId xmlns:a16="http://schemas.microsoft.com/office/drawing/2014/main" id="{C978E4A8-D788-3AD5-FEDD-CB89CDBDF9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65" b="-439"/>
          <a:stretch>
            <a:fillRect/>
          </a:stretch>
        </p:blipFill>
        <p:spPr>
          <a:xfrm>
            <a:off x="244389" y="1994672"/>
            <a:ext cx="2085267" cy="315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39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07A3E91A-6458-A31B-29B7-F296DA4D45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A3E91A-6458-A31B-29B7-F296DA4D45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1D56-4A56-13E9-B247-46E1DA4E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504" y="6557637"/>
            <a:ext cx="2743200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23</a:t>
            </a:fld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00997-2BD3-727E-C293-100274F643AC}"/>
              </a:ext>
            </a:extLst>
          </p:cNvPr>
          <p:cNvSpPr txBox="1"/>
          <p:nvPr/>
        </p:nvSpPr>
        <p:spPr>
          <a:xfrm>
            <a:off x="234926" y="134863"/>
            <a:ext cx="78239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Heuristic Agents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EB00AF8-ECD5-3B8A-F6A4-5E67FE2B2149}"/>
              </a:ext>
            </a:extLst>
          </p:cNvPr>
          <p:cNvSpPr/>
          <p:nvPr/>
        </p:nvSpPr>
        <p:spPr>
          <a:xfrm>
            <a:off x="365760" y="2707910"/>
            <a:ext cx="3523780" cy="6353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850" b="1">
              <a:solidFill>
                <a:srgbClr val="1A1F2E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3B18835F-020E-F273-52DF-ED8D51BAFD1B}"/>
              </a:ext>
            </a:extLst>
          </p:cNvPr>
          <p:cNvSpPr/>
          <p:nvPr/>
        </p:nvSpPr>
        <p:spPr>
          <a:xfrm>
            <a:off x="236364" y="1061546"/>
            <a:ext cx="3523780" cy="54817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b"/>
          <a:lstStyle/>
          <a:p>
            <a:pPr marL="342900" indent="-342900">
              <a:buFont typeface="Arial,Sans-Serif"/>
              <a:buChar char="•"/>
            </a:pPr>
            <a:r>
              <a:rPr lang="en-US" sz="2000">
                <a:latin typeface="Arial"/>
                <a:cs typeface="Arial"/>
              </a:rPr>
              <a:t>The agent selects a playable card completely at random from all valid options.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latin typeface="Arial"/>
                <a:cs typeface="Arial"/>
              </a:rPr>
              <a:t>If the selected card is a wild card, the agent randomly chooses a color from </a:t>
            </a:r>
            <a:r>
              <a:rPr lang="en-US" sz="2000" b="1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lang="en-US" sz="2000">
                <a:latin typeface="Arial"/>
                <a:cs typeface="Arial"/>
              </a:rPr>
              <a:t>, </a:t>
            </a:r>
            <a:r>
              <a:rPr lang="en-US" sz="2000" b="1">
                <a:solidFill>
                  <a:srgbClr val="92D050"/>
                </a:solidFill>
                <a:latin typeface="Arial"/>
                <a:cs typeface="Arial"/>
              </a:rPr>
              <a:t>Green</a:t>
            </a:r>
            <a:r>
              <a:rPr lang="en-US" sz="2000">
                <a:latin typeface="Arial"/>
                <a:cs typeface="Arial"/>
              </a:rPr>
              <a:t>,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 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b="1">
                <a:solidFill>
                  <a:srgbClr val="0070C0"/>
                </a:solidFill>
                <a:latin typeface="Arial"/>
                <a:cs typeface="Arial"/>
              </a:rPr>
              <a:t> Blue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, </a:t>
            </a:r>
            <a:r>
              <a:rPr lang="en-US" sz="2000">
                <a:latin typeface="Arial"/>
                <a:cs typeface="Arial"/>
              </a:rPr>
              <a:t>or </a:t>
            </a:r>
            <a:r>
              <a:rPr lang="en-US" sz="2000" b="1">
                <a:solidFill>
                  <a:srgbClr val="FFFF00"/>
                </a:solidFill>
                <a:latin typeface="Arial"/>
                <a:cs typeface="Arial"/>
              </a:rPr>
              <a:t>Yellow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. </a:t>
            </a:r>
            <a:endParaRPr lang="en-US" sz="2000">
              <a:latin typeface="Arial"/>
              <a:cs typeface="Arial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000">
                <a:latin typeface="Arial"/>
                <a:cs typeface="Arial"/>
              </a:rPr>
              <a:t>Any agent ≤ random =no learning signal.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GB" sz="2000">
                <a:latin typeface="Arial"/>
                <a:cs typeface="Arial"/>
              </a:rPr>
              <a:t>Random vs Random converges to ~50/50.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B32E36B-43E1-4B84-5D6D-C18602B2AF2B}"/>
              </a:ext>
            </a:extLst>
          </p:cNvPr>
          <p:cNvSpPr/>
          <p:nvPr/>
        </p:nvSpPr>
        <p:spPr>
          <a:xfrm>
            <a:off x="236364" y="1061544"/>
            <a:ext cx="3538158" cy="42822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 lIns="91440" tIns="45720" rIns="91440" bIns="45720" anchor="t"/>
          <a:lstStyle/>
          <a:p>
            <a:pPr algn="ctr" rtl="0"/>
            <a:r>
              <a:rPr lang="en-US" sz="2400" b="1" i="0" u="none" strike="noStrike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Random Agent</a:t>
            </a:r>
            <a:r>
              <a:rPr lang="en-US" sz="2400" b="0" i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​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ctr" rtl="0"/>
            <a:r>
              <a:rPr lang="en-US" sz="1200" b="0" i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​</a:t>
            </a:r>
            <a:endParaRPr lang="en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977844D-9F42-1517-6A4C-4A324ADEA979}"/>
              </a:ext>
            </a:extLst>
          </p:cNvPr>
          <p:cNvSpPr/>
          <p:nvPr/>
        </p:nvSpPr>
        <p:spPr>
          <a:xfrm>
            <a:off x="4201886" y="2406757"/>
            <a:ext cx="3858226" cy="482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endParaRPr lang="en-US" sz="1050" b="1" kern="0" spc="200">
              <a:solidFill>
                <a:srgbClr val="FBDF0A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D03092F-F81E-F1A0-C4C1-09EA557EE93B}"/>
              </a:ext>
            </a:extLst>
          </p:cNvPr>
          <p:cNvSpPr/>
          <p:nvPr/>
        </p:nvSpPr>
        <p:spPr>
          <a:xfrm>
            <a:off x="4158753" y="1061547"/>
            <a:ext cx="3541924" cy="54817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ctr"/>
          <a:lstStyle/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FF0000"/>
                </a:solidFill>
                <a:latin typeface="Arial"/>
                <a:cs typeface="Arial"/>
              </a:rPr>
              <a:t>Threat Mode: </a:t>
            </a:r>
            <a:endParaRPr lang="en-US"/>
          </a:p>
          <a:p>
            <a:r>
              <a:rPr lang="en-US" sz="2000">
                <a:latin typeface="Arial"/>
                <a:cs typeface="Arial"/>
              </a:rPr>
              <a:t>Switches when opponent has ≤2cards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2000" b="1">
                <a:latin typeface="Arial"/>
                <a:cs typeface="Arial"/>
              </a:rPr>
              <a:t>Priority</a:t>
            </a:r>
            <a:r>
              <a:rPr lang="en-US" sz="2000">
                <a:latin typeface="Arial"/>
                <a:cs typeface="Arial"/>
              </a:rPr>
              <a:t>: +4 &gt; +2 &gt; Skip &gt;  Reverse &gt; Wild &gt; Number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93D150"/>
                </a:solidFill>
                <a:latin typeface="Arial"/>
                <a:cs typeface="Arial"/>
              </a:rPr>
              <a:t>Normal Mode: </a:t>
            </a:r>
          </a:p>
          <a:p>
            <a:r>
              <a:rPr lang="en-US" sz="2000">
                <a:latin typeface="Arial"/>
                <a:cs typeface="Arial"/>
              </a:rPr>
              <a:t>Save wilds; play action cards first.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2000" b="1">
                <a:latin typeface="Arial"/>
                <a:cs typeface="Arial"/>
              </a:rPr>
              <a:t>Priority: </a:t>
            </a:r>
            <a:r>
              <a:rPr lang="en-US" sz="2000">
                <a:latin typeface="Arial"/>
                <a:cs typeface="Arial"/>
              </a:rPr>
              <a:t>Skip &gt; Reverse&gt; High Number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2E75B6"/>
                </a:solidFill>
                <a:latin typeface="Arial"/>
                <a:cs typeface="Arial"/>
              </a:rPr>
              <a:t>Wild color:</a:t>
            </a:r>
            <a:r>
              <a:rPr lang="en-US" sz="2000">
                <a:latin typeface="Arial"/>
                <a:cs typeface="Arial"/>
              </a:rPr>
              <a:t> </a:t>
            </a:r>
          </a:p>
          <a:p>
            <a:r>
              <a:rPr lang="en-US" sz="2000">
                <a:latin typeface="Arial"/>
                <a:cs typeface="Arial"/>
              </a:rPr>
              <a:t>Chooses the most frequent playable color.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A09F5D03-EF94-739C-CAC6-14530D27E9C5}"/>
              </a:ext>
            </a:extLst>
          </p:cNvPr>
          <p:cNvSpPr/>
          <p:nvPr/>
        </p:nvSpPr>
        <p:spPr>
          <a:xfrm>
            <a:off x="4158753" y="1061546"/>
            <a:ext cx="3541924" cy="428227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n-US" sz="2400" b="1" i="0" u="none" strike="noStrike" baseline="0">
                <a:solidFill>
                  <a:schemeClr val="bg1"/>
                </a:solidFill>
                <a:latin typeface="Arial"/>
              </a:rPr>
              <a:t>Greedy Rule Agent</a:t>
            </a:r>
            <a:r>
              <a:rPr lang="en-US" sz="24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65F32A12-D2AF-0FED-6F83-E072FEC2A08D}"/>
              </a:ext>
            </a:extLst>
          </p:cNvPr>
          <p:cNvSpPr/>
          <p:nvPr/>
        </p:nvSpPr>
        <p:spPr>
          <a:xfrm>
            <a:off x="8508778" y="1818210"/>
            <a:ext cx="2996113" cy="3549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en-GB" sz="1400">
              <a:latin typeface="Arial"/>
              <a:cs typeface="Arial"/>
            </a:endParaRP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21AD9271-44DD-1D44-B9DD-63361D64F670}"/>
              </a:ext>
            </a:extLst>
          </p:cNvPr>
          <p:cNvSpPr/>
          <p:nvPr/>
        </p:nvSpPr>
        <p:spPr>
          <a:xfrm>
            <a:off x="8156797" y="1004037"/>
            <a:ext cx="3585056" cy="54817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C457A4-49C8-4811-FC05-63A0F1349ABE}"/>
              </a:ext>
            </a:extLst>
          </p:cNvPr>
          <p:cNvGrpSpPr/>
          <p:nvPr/>
        </p:nvGrpSpPr>
        <p:grpSpPr>
          <a:xfrm>
            <a:off x="8021628" y="310755"/>
            <a:ext cx="3962548" cy="6249706"/>
            <a:chOff x="8050382" y="368264"/>
            <a:chExt cx="3962548" cy="6249706"/>
          </a:xfrm>
        </p:grpSpPr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FD078422-159C-3E42-97E5-AD129691080B}"/>
                </a:ext>
              </a:extLst>
            </p:cNvPr>
            <p:cNvSpPr/>
            <p:nvPr/>
          </p:nvSpPr>
          <p:spPr>
            <a:xfrm>
              <a:off x="8185552" y="1061546"/>
              <a:ext cx="3599433" cy="428227"/>
            </a:xfrm>
            <a:prstGeom prst="rect">
              <a:avLst/>
            </a:prstGeom>
            <a:solidFill>
              <a:srgbClr val="FBDF0A"/>
            </a:solidFill>
            <a:ln w="12700">
              <a:solidFill>
                <a:srgbClr val="FBDF0A"/>
              </a:solidFill>
              <a:prstDash val="solid"/>
            </a:ln>
          </p:spPr>
          <p:txBody>
            <a:bodyPr lIns="91440" tIns="45720" rIns="91440" bIns="45720" anchor="t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Anti-Greedy Agent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b="1">
                  <a:solidFill>
                    <a:srgbClr val="FF0000"/>
                  </a:solidFill>
                  <a:latin typeface="Arial"/>
                  <a:cs typeface="Arial"/>
                </a:rPr>
                <a:t>I</a:t>
              </a:r>
              <a:r>
                <a:rPr lang="en-GB" sz="2000" b="1">
                  <a:solidFill>
                    <a:srgbClr val="FF0000"/>
                  </a:solidFill>
                  <a:latin typeface="Arial"/>
                  <a:cs typeface="Arial"/>
                </a:rPr>
                <a:t>nverted priority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: Number &gt;Reverse &gt; Skip&gt; +2 &gt; Wild &gt;+4 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 b="1">
                  <a:solidFill>
                    <a:srgbClr val="2E75B6"/>
                  </a:solidFill>
                  <a:latin typeface="Arial"/>
                  <a:cs typeface="Arial"/>
                </a:rPr>
                <a:t>Wastes wilds 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early with random </a:t>
              </a:r>
              <a:r>
                <a:rPr lang="en-GB" sz="2000" err="1">
                  <a:solidFill>
                    <a:srgbClr val="000000"/>
                  </a:solidFill>
                  <a:latin typeface="Arial"/>
                  <a:cs typeface="Arial"/>
                </a:rPr>
                <a:t>colors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 and no threat awareness.</a:t>
              </a:r>
            </a:p>
            <a:p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 b="1">
                  <a:solidFill>
                    <a:srgbClr val="93D150"/>
                  </a:solidFill>
                  <a:latin typeface="Arial"/>
                  <a:cs typeface="Arial"/>
                </a:rPr>
                <a:t>Greedy Agent consistently wins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, validating the heuristic strategy.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Anti-Greedy performs near Random Agent, giving no advantage over chance. 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marL="342900" indent="-34290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DE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8D1A18-73A8-1E7B-F5EF-6BE1C8B4A4D7}"/>
                </a:ext>
              </a:extLst>
            </p:cNvPr>
            <p:cNvSpPr/>
            <p:nvPr/>
          </p:nvSpPr>
          <p:spPr>
            <a:xfrm>
              <a:off x="8058912" y="868680"/>
              <a:ext cx="3954018" cy="5749290"/>
            </a:xfrm>
            <a:prstGeom prst="rect">
              <a:avLst/>
            </a:prstGeom>
            <a:noFill/>
            <a:ln w="19050">
              <a:solidFill>
                <a:srgbClr val="FBDF0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BF67E2B5-2855-2E01-1871-966D94D4F20A}"/>
                </a:ext>
              </a:extLst>
            </p:cNvPr>
            <p:cNvSpPr/>
            <p:nvPr/>
          </p:nvSpPr>
          <p:spPr>
            <a:xfrm>
              <a:off x="8050382" y="368264"/>
              <a:ext cx="1723036" cy="428227"/>
            </a:xfrm>
            <a:prstGeom prst="rect">
              <a:avLst/>
            </a:prstGeom>
            <a:noFill/>
            <a:ln w="12700">
              <a:solidFill>
                <a:srgbClr val="FBDF0A"/>
              </a:solidFill>
              <a:prstDash val="solid"/>
            </a:ln>
          </p:spPr>
          <p:txBody>
            <a:bodyPr lIns="91440" tIns="45720" rIns="91440" bIns="4572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Arial"/>
                  <a:cs typeface="Arial"/>
                </a:rPr>
                <a:t>For validation</a:t>
              </a:r>
              <a:endParaRPr lang="en-D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534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0A83-2085-A4E5-F806-274827AC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F1E0518-C58D-F4EA-3C87-1F8E558286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1E0518-C58D-F4EA-3C87-1F8E558286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3AE63-1560-621E-B49E-327470EC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24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4A0CF5-5832-25C9-DA79-6EE824F2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59053"/>
            <a:ext cx="10471638" cy="3126341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Reinforcement Learning</a:t>
            </a:r>
            <a:br>
              <a:rPr lang="en-US" sz="6000" b="1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(RL) Agent</a:t>
            </a:r>
            <a:endParaRPr lang="en-US"/>
          </a:p>
          <a:p>
            <a:endParaRPr lang="en-US" sz="24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5" name="Picture 4" descr="Number Cards | Uno Wiki | Fandom">
            <a:extLst>
              <a:ext uri="{FF2B5EF4-FFF2-40B4-BE49-F238E27FC236}">
                <a16:creationId xmlns:a16="http://schemas.microsoft.com/office/drawing/2014/main" id="{83A76743-3216-6417-C7F5-5005C2E3A1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7" b="-218"/>
          <a:stretch>
            <a:fillRect/>
          </a:stretch>
        </p:blipFill>
        <p:spPr>
          <a:xfrm>
            <a:off x="354786" y="1916499"/>
            <a:ext cx="2098146" cy="316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28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4415892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25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364EA49F-C46F-1511-3B83-F793AAC6178C}"/>
              </a:ext>
            </a:extLst>
          </p:cNvPr>
          <p:cNvSpPr/>
          <p:nvPr/>
        </p:nvSpPr>
        <p:spPr>
          <a:xfrm>
            <a:off x="537883" y="2271061"/>
            <a:ext cx="2880000" cy="645460"/>
          </a:xfrm>
          <a:prstGeom prst="chevron">
            <a:avLst/>
          </a:prstGeom>
          <a:solidFill>
            <a:srgbClr val="E119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59E43882-B367-404B-4312-AFCFF6BFDEDF}"/>
              </a:ext>
            </a:extLst>
          </p:cNvPr>
          <p:cNvSpPr/>
          <p:nvPr/>
        </p:nvSpPr>
        <p:spPr>
          <a:xfrm>
            <a:off x="3386665" y="2271061"/>
            <a:ext cx="2880000" cy="645460"/>
          </a:xfrm>
          <a:prstGeom prst="chevron">
            <a:avLst/>
          </a:prstGeom>
          <a:solidFill>
            <a:srgbClr val="2E7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AE601532-5CFD-A848-EBD0-8EB8443C8A7E}"/>
              </a:ext>
            </a:extLst>
          </p:cNvPr>
          <p:cNvSpPr/>
          <p:nvPr/>
        </p:nvSpPr>
        <p:spPr>
          <a:xfrm>
            <a:off x="6235448" y="2271061"/>
            <a:ext cx="2880000" cy="645460"/>
          </a:xfrm>
          <a:prstGeom prst="chevron">
            <a:avLst/>
          </a:prstGeom>
          <a:solidFill>
            <a:srgbClr val="FFDE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B2903302-F227-B13E-7887-1E439F8FAB93}"/>
              </a:ext>
            </a:extLst>
          </p:cNvPr>
          <p:cNvSpPr/>
          <p:nvPr/>
        </p:nvSpPr>
        <p:spPr>
          <a:xfrm>
            <a:off x="9084231" y="2271061"/>
            <a:ext cx="2880000" cy="645460"/>
          </a:xfrm>
          <a:prstGeom prst="chevron">
            <a:avLst/>
          </a:prstGeom>
          <a:solidFill>
            <a:srgbClr val="93D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8C47F3-BD5E-4769-234F-AC4CFBD7A995}"/>
              </a:ext>
            </a:extLst>
          </p:cNvPr>
          <p:cNvSpPr txBox="1"/>
          <p:nvPr/>
        </p:nvSpPr>
        <p:spPr>
          <a:xfrm>
            <a:off x="481103" y="1549430"/>
            <a:ext cx="86031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2-Player UNO is a sequential decision-making problem: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2BDA4-9DBF-EF7E-0967-F96D92FAEDE8}"/>
              </a:ext>
            </a:extLst>
          </p:cNvPr>
          <p:cNvSpPr txBox="1"/>
          <p:nvPr/>
        </p:nvSpPr>
        <p:spPr>
          <a:xfrm>
            <a:off x="537884" y="3182777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Observe game state: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top card, active </a:t>
            </a:r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, hand sizes, valid plays</a:t>
            </a:r>
          </a:p>
          <a:p>
            <a:pPr marL="380990" indent="-380990">
              <a:buFontTx/>
              <a:buChar char="-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774E45-733C-9380-0F37-F0D569F622B1}"/>
              </a:ext>
            </a:extLst>
          </p:cNvPr>
          <p:cNvSpPr txBox="1"/>
          <p:nvPr/>
        </p:nvSpPr>
        <p:spPr>
          <a:xfrm>
            <a:off x="3417884" y="3192021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Decide which available card to play according to per-card scoring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F75CC1-D44C-08B0-FBD1-273C32D95004}"/>
              </a:ext>
            </a:extLst>
          </p:cNvPr>
          <p:cNvSpPr txBox="1"/>
          <p:nvPr/>
        </p:nvSpPr>
        <p:spPr>
          <a:xfrm>
            <a:off x="6336390" y="3203311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Receive reward from 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D04CFF-4418-A5AA-314C-1231A975043B}"/>
              </a:ext>
            </a:extLst>
          </p:cNvPr>
          <p:cNvSpPr txBox="1"/>
          <p:nvPr/>
        </p:nvSpPr>
        <p:spPr>
          <a:xfrm>
            <a:off x="9185172" y="3192021"/>
            <a:ext cx="2678117" cy="1656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Accumulate the highest total reward across the whole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5A5CE8-5729-6555-D737-18A07B97D5EB}"/>
              </a:ext>
            </a:extLst>
          </p:cNvPr>
          <p:cNvSpPr txBox="1"/>
          <p:nvPr/>
        </p:nvSpPr>
        <p:spPr>
          <a:xfrm>
            <a:off x="525100" y="5029746"/>
            <a:ext cx="112135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been told how to play, the RL agent learns by trial and from the outcomes of the games. </a:t>
            </a:r>
          </a:p>
        </p:txBody>
      </p:sp>
    </p:spTree>
    <p:extLst>
      <p:ext uri="{BB962C8B-B14F-4D97-AF65-F5344CB8AC3E}">
        <p14:creationId xmlns:p14="http://schemas.microsoft.com/office/powerpoint/2010/main" val="658372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7431334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State &amp;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26</a:t>
            </a:fld>
            <a:endParaRPr lang="en-GB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Pentagon 36">
                <a:extLst>
                  <a:ext uri="{FF2B5EF4-FFF2-40B4-BE49-F238E27FC236}">
                    <a16:creationId xmlns:a16="http://schemas.microsoft.com/office/drawing/2014/main" id="{437CE3E8-4704-00C6-9D06-810EFFBD0D94}"/>
                  </a:ext>
                </a:extLst>
              </p:cNvPr>
              <p:cNvSpPr/>
              <p:nvPr/>
            </p:nvSpPr>
            <p:spPr>
              <a:xfrm>
                <a:off x="377191" y="3035641"/>
                <a:ext cx="8035290" cy="504000"/>
              </a:xfrm>
              <a:prstGeom prst="homePlate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𝐼𝑛𝑝𝑢𝑡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(75) →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𝐻𝑖𝑑𝑑𝑒𝑛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𝑙𝑎𝑦𝑒𝑟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128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𝐻𝑖𝑑𝑑𝑒𝑛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𝑙𝑎𝑦𝑒𝑟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64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Pentagon 36">
                <a:extLst>
                  <a:ext uri="{FF2B5EF4-FFF2-40B4-BE49-F238E27FC236}">
                    <a16:creationId xmlns:a16="http://schemas.microsoft.com/office/drawing/2014/main" id="{437CE3E8-4704-00C6-9D06-810EFFBD0D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3035641"/>
                <a:ext cx="8035290" cy="504000"/>
              </a:xfrm>
              <a:prstGeom prst="homePlate">
                <a:avLst/>
              </a:prstGeom>
              <a:blipFill>
                <a:blip r:embed="rId6"/>
                <a:stretch>
                  <a:fillRect l="-1442" b="-144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/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65A5CE8-5729-6555-D737-18A07B97D5EB}"/>
              </a:ext>
            </a:extLst>
          </p:cNvPr>
          <p:cNvSpPr txBox="1"/>
          <p:nvPr/>
        </p:nvSpPr>
        <p:spPr>
          <a:xfrm>
            <a:off x="422231" y="5116204"/>
            <a:ext cx="11075660" cy="756000"/>
          </a:xfrm>
          <a:prstGeom prst="rect">
            <a:avLst/>
          </a:prstGeom>
          <a:noFill/>
          <a:ln w="12700">
            <a:solidFill>
              <a:srgbClr val="93D150"/>
            </a:solidFill>
          </a:ln>
        </p:spPr>
        <p:txBody>
          <a:bodyPr wrap="square" lIns="720000">
            <a:spAutoFit/>
          </a:bodyPr>
          <a:lstStyle/>
          <a:p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scores every legal card independently (per-card scoring) and plays the one with the highest Q-value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B7A568-A343-4B52-3A33-273D2BD42CEC}"/>
                  </a:ext>
                </a:extLst>
              </p:cNvPr>
              <p:cNvSpPr/>
              <p:nvPr/>
            </p:nvSpPr>
            <p:spPr>
              <a:xfrm>
                <a:off x="377191" y="2006433"/>
                <a:ext cx="1174520" cy="961792"/>
              </a:xfrm>
              <a:prstGeom prst="rect">
                <a:avLst/>
              </a:prstGeom>
              <a:solidFill>
                <a:srgbClr val="E119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𝑆𝑡𝑎𝑡𝑒</m:t>
                      </m:r>
                    </m:oMath>
                  </m:oMathPara>
                </a14:m>
                <a:endParaRPr lang="en-US" sz="2133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133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B7A568-A343-4B52-3A33-273D2BD42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2006433"/>
                <a:ext cx="1174520" cy="9617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416AA3-EED3-BE07-C394-72CD339412F8}"/>
                  </a:ext>
                </a:extLst>
              </p:cNvPr>
              <p:cNvSpPr/>
              <p:nvPr/>
            </p:nvSpPr>
            <p:spPr>
              <a:xfrm>
                <a:off x="377191" y="3686847"/>
                <a:ext cx="1174519" cy="1030720"/>
              </a:xfrm>
              <a:prstGeom prst="rect">
                <a:avLst/>
              </a:prstGeom>
              <a:solidFill>
                <a:srgbClr val="2E74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𝐴𝑐𝑡𝑖𝑜𝑛</m:t>
                      </m:r>
                    </m:oMath>
                  </m:oMathPara>
                </a14:m>
                <a:endParaRPr lang="en-US" sz="2133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133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416AA3-EED3-BE07-C394-72CD33941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3686847"/>
                <a:ext cx="1174519" cy="10307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/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4E5B6B-3AEC-6F44-665B-8E215347C0F4}"/>
                  </a:ext>
                </a:extLst>
              </p:cNvPr>
              <p:cNvSpPr txBox="1"/>
              <p:nvPr/>
            </p:nvSpPr>
            <p:spPr>
              <a:xfrm>
                <a:off x="8501152" y="2891549"/>
                <a:ext cx="2996739" cy="1254959"/>
              </a:xfrm>
              <a:prstGeom prst="rect">
                <a:avLst/>
              </a:prstGeom>
              <a:noFill/>
              <a:ln w="19050">
                <a:solidFill>
                  <a:srgbClr val="FFDE08"/>
                </a:solidFill>
              </a:ln>
            </p:spPr>
            <p:txBody>
              <a:bodyPr wrap="square">
                <a:spAutoFit/>
              </a:bodyPr>
              <a:lstStyle/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GB" sz="1867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Expected future reward of action a in state s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GB" sz="1867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𝑂𝑢𝑡𝑝𝑢𝑡</m:t>
                    </m:r>
                    <m:r>
                      <a:rPr lang="en-GB" sz="1867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1867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endParaRPr lang="en-GB" sz="1867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4E5B6B-3AEC-6F44-665B-8E215347C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52" y="2891549"/>
                <a:ext cx="2996739" cy="1254959"/>
              </a:xfrm>
              <a:prstGeom prst="rect">
                <a:avLst/>
              </a:prstGeom>
              <a:blipFill>
                <a:blip r:embed="rId11"/>
                <a:stretch>
                  <a:fillRect l="-1619" t="-1435" b="-6220"/>
                </a:stretch>
              </a:blipFill>
              <a:ln w="19050">
                <a:solidFill>
                  <a:srgbClr val="FFDE0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01B667-0730-95D6-53DE-2EABF6B9CAB9}"/>
                  </a:ext>
                </a:extLst>
              </p:cNvPr>
              <p:cNvSpPr/>
              <p:nvPr/>
            </p:nvSpPr>
            <p:spPr>
              <a:xfrm>
                <a:off x="8474479" y="2271878"/>
                <a:ext cx="3028077" cy="492444"/>
              </a:xfrm>
              <a:prstGeom prst="rect">
                <a:avLst/>
              </a:prstGeom>
              <a:solidFill>
                <a:srgbClr val="FFDE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01B667-0730-95D6-53DE-2EABF6B9C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479" y="2271878"/>
                <a:ext cx="3028077" cy="492444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FC05B2A-0C9D-7FDB-47C9-4838658EBDA9}"/>
              </a:ext>
            </a:extLst>
          </p:cNvPr>
          <p:cNvSpPr txBox="1"/>
          <p:nvPr/>
        </p:nvSpPr>
        <p:spPr>
          <a:xfrm>
            <a:off x="1719340" y="2010179"/>
            <a:ext cx="3345523" cy="954300"/>
          </a:xfrm>
          <a:prstGeom prst="rect">
            <a:avLst/>
          </a:prstGeom>
          <a:noFill/>
          <a:ln w="19050">
            <a:solidFill>
              <a:srgbClr val="E11918"/>
            </a:solidFill>
          </a:ln>
        </p:spPr>
        <p:txBody>
          <a:bodyPr wrap="square">
            <a:spAutoFit/>
          </a:bodyPr>
          <a:lstStyle/>
          <a:p>
            <a:r>
              <a:rPr lang="en-GB" sz="18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-float state vector,</a:t>
            </a:r>
          </a:p>
          <a:p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card, current </a:t>
            </a:r>
            <a:r>
              <a:rPr lang="en-GB" sz="1867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hand sizes, etc.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44E83C-280E-55A1-4CCC-FC3D8612D0C5}"/>
              </a:ext>
            </a:extLst>
          </p:cNvPr>
          <p:cNvSpPr txBox="1"/>
          <p:nvPr/>
        </p:nvSpPr>
        <p:spPr>
          <a:xfrm>
            <a:off x="1719340" y="3725057"/>
            <a:ext cx="3345523" cy="954300"/>
          </a:xfrm>
          <a:prstGeom prst="rect">
            <a:avLst/>
          </a:prstGeom>
          <a:noFill/>
          <a:ln w="19050">
            <a:solidFill>
              <a:srgbClr val="2E74B6"/>
            </a:solidFill>
          </a:ln>
        </p:spPr>
        <p:txBody>
          <a:bodyPr wrap="square">
            <a:spAutoFit/>
          </a:bodyPr>
          <a:lstStyle/>
          <a:p>
            <a:r>
              <a:rPr lang="en-GB" sz="18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-float card vector, </a:t>
            </a:r>
          </a:p>
          <a:p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card’s </a:t>
            </a:r>
            <a:r>
              <a:rPr lang="en-GB" sz="1867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type,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9E9D8D-4BF3-4817-8588-C3A72F35614E}"/>
                  </a:ext>
                </a:extLst>
              </p:cNvPr>
              <p:cNvSpPr/>
              <p:nvPr/>
            </p:nvSpPr>
            <p:spPr>
              <a:xfrm>
                <a:off x="377191" y="1240661"/>
                <a:ext cx="11120700" cy="6431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DQN: </a:t>
                </a:r>
                <a:r>
                  <a:rPr lang="en-US" sz="2200">
                    <a:solidFill>
                      <a:schemeClr val="bg1"/>
                    </a:solidFill>
                  </a:rPr>
                  <a:t>maximize Q-value – 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lim>
                        </m:limLow>
                      </m:fName>
                      <m:e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GB" sz="2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9E9D8D-4BF3-4817-8588-C3A72F356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1240661"/>
                <a:ext cx="11120700" cy="643131"/>
              </a:xfrm>
              <a:prstGeom prst="rect">
                <a:avLst/>
              </a:prstGeom>
              <a:blipFill>
                <a:blip r:embed="rId13"/>
                <a:stretch>
                  <a:fillRect l="-7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riangle 5">
            <a:extLst>
              <a:ext uri="{FF2B5EF4-FFF2-40B4-BE49-F238E27FC236}">
                <a16:creationId xmlns:a16="http://schemas.microsoft.com/office/drawing/2014/main" id="{06E11DDD-D5C8-2EF4-6EA3-098F6B04C734}"/>
              </a:ext>
            </a:extLst>
          </p:cNvPr>
          <p:cNvSpPr/>
          <p:nvPr/>
        </p:nvSpPr>
        <p:spPr>
          <a:xfrm rot="5400000">
            <a:off x="250336" y="5287204"/>
            <a:ext cx="756000" cy="414000"/>
          </a:xfrm>
          <a:prstGeom prst="triangle">
            <a:avLst/>
          </a:prstGeom>
          <a:solidFill>
            <a:srgbClr val="93D150"/>
          </a:solidFill>
          <a:ln>
            <a:solidFill>
              <a:srgbClr val="93D1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hevron 20">
                <a:extLst>
                  <a:ext uri="{FF2B5EF4-FFF2-40B4-BE49-F238E27FC236}">
                    <a16:creationId xmlns:a16="http://schemas.microsoft.com/office/drawing/2014/main" id="{283CEB3C-111E-3639-1CEC-BB9A666765C8}"/>
                  </a:ext>
                </a:extLst>
              </p:cNvPr>
              <p:cNvSpPr/>
              <p:nvPr/>
            </p:nvSpPr>
            <p:spPr>
              <a:xfrm>
                <a:off x="13386161" y="23747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Chevron 20">
                <a:extLst>
                  <a:ext uri="{FF2B5EF4-FFF2-40B4-BE49-F238E27FC236}">
                    <a16:creationId xmlns:a16="http://schemas.microsoft.com/office/drawing/2014/main" id="{283CEB3C-111E-3639-1CEC-BB9A66676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161" y="2374791"/>
                <a:ext cx="3680784" cy="645460"/>
              </a:xfrm>
              <a:prstGeom prst="chevron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199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Reward and Training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27</a:t>
            </a:fld>
            <a:endParaRPr lang="en-GB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/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/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22C0670-8059-01D9-D3AD-4DBDC188CCE0}"/>
              </a:ext>
            </a:extLst>
          </p:cNvPr>
          <p:cNvGrpSpPr/>
          <p:nvPr/>
        </p:nvGrpSpPr>
        <p:grpSpPr>
          <a:xfrm>
            <a:off x="442113" y="3353163"/>
            <a:ext cx="648000" cy="648000"/>
            <a:chOff x="616131" y="645700"/>
            <a:chExt cx="594360" cy="594360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173D03EC-BE1C-E32C-D188-9E6E7272DF0A}"/>
                </a:ext>
              </a:extLst>
            </p:cNvPr>
            <p:cNvSpPr/>
            <p:nvPr/>
          </p:nvSpPr>
          <p:spPr>
            <a:xfrm>
              <a:off x="616131" y="645700"/>
              <a:ext cx="594360" cy="594360"/>
            </a:xfrm>
            <a:prstGeom prst="ellipse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Image 0" descr="preencoded.png">
              <a:extLst>
                <a:ext uri="{FF2B5EF4-FFF2-40B4-BE49-F238E27FC236}">
                  <a16:creationId xmlns:a16="http://schemas.microsoft.com/office/drawing/2014/main" id="{649E8806-8AF8-2463-A96B-6363D4E67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139" y="709708"/>
              <a:ext cx="457200" cy="457200"/>
            </a:xfrm>
            <a:prstGeom prst="rect">
              <a:avLst/>
            </a:prstGeom>
          </p:spPr>
        </p:pic>
      </p:grpSp>
      <p:sp>
        <p:nvSpPr>
          <p:cNvPr id="33" name="Text 5">
            <a:extLst>
              <a:ext uri="{FF2B5EF4-FFF2-40B4-BE49-F238E27FC236}">
                <a16:creationId xmlns:a16="http://schemas.microsoft.com/office/drawing/2014/main" id="{D0C6BE2F-B0D2-C77E-6E63-FF75FCFA3357}"/>
              </a:ext>
            </a:extLst>
          </p:cNvPr>
          <p:cNvSpPr/>
          <p:nvPr/>
        </p:nvSpPr>
        <p:spPr>
          <a:xfrm>
            <a:off x="1311112" y="3275939"/>
            <a:ext cx="178248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</a:p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Curriculum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31848E-1607-B9E0-9F54-54856735839B}"/>
              </a:ext>
            </a:extLst>
          </p:cNvPr>
          <p:cNvGrpSpPr/>
          <p:nvPr/>
        </p:nvGrpSpPr>
        <p:grpSpPr>
          <a:xfrm>
            <a:off x="372328" y="1661082"/>
            <a:ext cx="648000" cy="648000"/>
            <a:chOff x="5116569" y="1072433"/>
            <a:chExt cx="594360" cy="594360"/>
          </a:xfrm>
        </p:grpSpPr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5D27FDF7-02EA-9809-6C87-C3F8DBDFA037}"/>
                </a:ext>
              </a:extLst>
            </p:cNvPr>
            <p:cNvSpPr/>
            <p:nvPr/>
          </p:nvSpPr>
          <p:spPr>
            <a:xfrm>
              <a:off x="5116569" y="1072433"/>
              <a:ext cx="594360" cy="594360"/>
            </a:xfrm>
            <a:prstGeom prst="ellipse">
              <a:avLst/>
            </a:prstGeom>
            <a:solidFill>
              <a:srgbClr val="93D150"/>
            </a:solidFill>
            <a:ln w="12700">
              <a:solidFill>
                <a:srgbClr val="93D150"/>
              </a:solidFill>
              <a:prstDash val="solid"/>
            </a:ln>
          </p:spPr>
          <p:txBody>
            <a:bodyPr/>
            <a:lstStyle/>
            <a:p>
              <a:endParaRPr lang="en-DE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Image 1" descr="preencoded.png">
              <a:extLst>
                <a:ext uri="{FF2B5EF4-FFF2-40B4-BE49-F238E27FC236}">
                  <a16:creationId xmlns:a16="http://schemas.microsoft.com/office/drawing/2014/main" id="{1F5CCA6A-CFC4-A39E-1E0C-884FE7EE4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80577" y="1136441"/>
              <a:ext cx="457200" cy="457200"/>
            </a:xfrm>
            <a:prstGeom prst="rect">
              <a:avLst/>
            </a:prstGeom>
          </p:spPr>
        </p:pic>
      </p:grpSp>
      <p:sp>
        <p:nvSpPr>
          <p:cNvPr id="44" name="Text 16">
            <a:extLst>
              <a:ext uri="{FF2B5EF4-FFF2-40B4-BE49-F238E27FC236}">
                <a16:creationId xmlns:a16="http://schemas.microsoft.com/office/drawing/2014/main" id="{5945629E-86E7-1DDF-1527-A99B2D5049F3}"/>
              </a:ext>
            </a:extLst>
          </p:cNvPr>
          <p:cNvSpPr/>
          <p:nvPr/>
        </p:nvSpPr>
        <p:spPr>
          <a:xfrm>
            <a:off x="1311112" y="1588842"/>
            <a:ext cx="1274457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 </a:t>
            </a:r>
          </a:p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88640539-56C1-AC2B-0824-0EAC04C89152}"/>
              </a:ext>
            </a:extLst>
          </p:cNvPr>
          <p:cNvSpPr/>
          <p:nvPr/>
        </p:nvSpPr>
        <p:spPr>
          <a:xfrm>
            <a:off x="3034099" y="1495455"/>
            <a:ext cx="3960000" cy="1224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 tIns="144000"/>
          <a:lstStyle/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Placing draw Two: + 0.2 / 0.5 (Threat)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Placing draw Four: + 0.3 / 0.4 (Threat)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 reduced: + 0.2 * cards shed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30">
            <a:extLst>
              <a:ext uri="{FF2B5EF4-FFF2-40B4-BE49-F238E27FC236}">
                <a16:creationId xmlns:a16="http://schemas.microsoft.com/office/drawing/2014/main" id="{6282C7C7-1A37-BF81-E7B5-F925EC67184E}"/>
              </a:ext>
            </a:extLst>
          </p:cNvPr>
          <p:cNvSpPr/>
          <p:nvPr/>
        </p:nvSpPr>
        <p:spPr>
          <a:xfrm rot="5400000" flipH="1">
            <a:off x="4994175" y="-450716"/>
            <a:ext cx="45719" cy="3960000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/>
          <a:lstStyle/>
          <a:p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BCEF3B01-8BAC-EF47-B89D-98B52F9FE535}"/>
              </a:ext>
            </a:extLst>
          </p:cNvPr>
          <p:cNvSpPr/>
          <p:nvPr/>
        </p:nvSpPr>
        <p:spPr>
          <a:xfrm>
            <a:off x="3034099" y="929247"/>
            <a:ext cx="3960000" cy="6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93D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Intermediate Reward </a:t>
            </a:r>
            <a:endParaRPr lang="en-US">
              <a:solidFill>
                <a:srgbClr val="93D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DBC0252F-9D6E-5D9B-7276-2E390ACCDBF3}"/>
              </a:ext>
            </a:extLst>
          </p:cNvPr>
          <p:cNvSpPr/>
          <p:nvPr/>
        </p:nvSpPr>
        <p:spPr>
          <a:xfrm>
            <a:off x="7705246" y="1495455"/>
            <a:ext cx="3960000" cy="1224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 tIns="144000"/>
          <a:lstStyle/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=+ 1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=- 1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=-0.5</a:t>
            </a: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27B5A9A-2375-10DE-00ED-356AB2A486D8}"/>
              </a:ext>
            </a:extLst>
          </p:cNvPr>
          <p:cNvSpPr/>
          <p:nvPr/>
        </p:nvSpPr>
        <p:spPr>
          <a:xfrm rot="5400000">
            <a:off x="9659078" y="-458564"/>
            <a:ext cx="50175" cy="3960000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/>
          <a:lstStyle/>
          <a:p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C62BD02-C1E3-2CD7-D5DD-B4B5A245E1DA}"/>
              </a:ext>
            </a:extLst>
          </p:cNvPr>
          <p:cNvSpPr/>
          <p:nvPr/>
        </p:nvSpPr>
        <p:spPr>
          <a:xfrm>
            <a:off x="7734648" y="929247"/>
            <a:ext cx="2422358" cy="62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93D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 Reward</a:t>
            </a:r>
            <a:endParaRPr lang="en-US">
              <a:solidFill>
                <a:srgbClr val="93D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699540-40F9-2932-0A37-BF8B7115A6BF}"/>
              </a:ext>
            </a:extLst>
          </p:cNvPr>
          <p:cNvGrpSpPr/>
          <p:nvPr/>
        </p:nvGrpSpPr>
        <p:grpSpPr>
          <a:xfrm>
            <a:off x="7721618" y="3263644"/>
            <a:ext cx="3960000" cy="684000"/>
            <a:chOff x="7984510" y="3131292"/>
            <a:chExt cx="3517684" cy="684000"/>
          </a:xfrm>
        </p:grpSpPr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49A60DF4-467F-2EF7-4765-5217EE1E460A}"/>
                </a:ext>
              </a:extLst>
            </p:cNvPr>
            <p:cNvSpPr/>
            <p:nvPr/>
          </p:nvSpPr>
          <p:spPr>
            <a:xfrm>
              <a:off x="7984510" y="3131292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Shape 20">
              <a:extLst>
                <a:ext uri="{FF2B5EF4-FFF2-40B4-BE49-F238E27FC236}">
                  <a16:creationId xmlns:a16="http://schemas.microsoft.com/office/drawing/2014/main" id="{8B8B5844-F778-5FE6-0C9C-967FA792CBEC}"/>
                </a:ext>
              </a:extLst>
            </p:cNvPr>
            <p:cNvSpPr/>
            <p:nvPr/>
          </p:nvSpPr>
          <p:spPr>
            <a:xfrm>
              <a:off x="7984510" y="3131292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21">
              <a:extLst>
                <a:ext uri="{FF2B5EF4-FFF2-40B4-BE49-F238E27FC236}">
                  <a16:creationId xmlns:a16="http://schemas.microsoft.com/office/drawing/2014/main" id="{49C00448-D317-4DEC-91DF-59E655D700D7}"/>
                </a:ext>
              </a:extLst>
            </p:cNvPr>
            <p:cNvSpPr/>
            <p:nvPr/>
          </p:nvSpPr>
          <p:spPr>
            <a:xfrm>
              <a:off x="8121870" y="3186453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1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22">
              <a:extLst>
                <a:ext uri="{FF2B5EF4-FFF2-40B4-BE49-F238E27FC236}">
                  <a16:creationId xmlns:a16="http://schemas.microsoft.com/office/drawing/2014/main" id="{BDDEF79C-348F-9A03-445E-42A4AD75B9F4}"/>
                </a:ext>
              </a:extLst>
            </p:cNvPr>
            <p:cNvSpPr/>
            <p:nvPr/>
          </p:nvSpPr>
          <p:spPr>
            <a:xfrm>
              <a:off x="8121870" y="3462260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– 4,999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55BCD2B9-778D-53EF-8E13-4F89D4F88126}"/>
                </a:ext>
              </a:extLst>
            </p:cNvPr>
            <p:cNvSpPr/>
            <p:nvPr/>
          </p:nvSpPr>
          <p:spPr>
            <a:xfrm>
              <a:off x="9665479" y="3296777"/>
              <a:ext cx="1760342" cy="308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RandomAgent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5E9013-21B2-5474-6183-2C74CFDD6EEF}"/>
              </a:ext>
            </a:extLst>
          </p:cNvPr>
          <p:cNvGrpSpPr/>
          <p:nvPr/>
        </p:nvGrpSpPr>
        <p:grpSpPr>
          <a:xfrm>
            <a:off x="7721618" y="4273534"/>
            <a:ext cx="3960000" cy="684000"/>
            <a:chOff x="7984509" y="3936648"/>
            <a:chExt cx="3517684" cy="684000"/>
          </a:xfrm>
        </p:grpSpPr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A3BA5616-0E00-947A-302E-9BA69EC77487}"/>
                </a:ext>
              </a:extLst>
            </p:cNvPr>
            <p:cNvSpPr/>
            <p:nvPr/>
          </p:nvSpPr>
          <p:spPr>
            <a:xfrm>
              <a:off x="7984509" y="3936648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Shape 25">
              <a:extLst>
                <a:ext uri="{FF2B5EF4-FFF2-40B4-BE49-F238E27FC236}">
                  <a16:creationId xmlns:a16="http://schemas.microsoft.com/office/drawing/2014/main" id="{B60FF1E9-D0F8-7C5F-11C0-360AF26904B5}"/>
                </a:ext>
              </a:extLst>
            </p:cNvPr>
            <p:cNvSpPr/>
            <p:nvPr/>
          </p:nvSpPr>
          <p:spPr>
            <a:xfrm>
              <a:off x="7984509" y="3936648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26">
              <a:extLst>
                <a:ext uri="{FF2B5EF4-FFF2-40B4-BE49-F238E27FC236}">
                  <a16:creationId xmlns:a16="http://schemas.microsoft.com/office/drawing/2014/main" id="{C5F69EBA-6D44-A127-1F1A-A3EA9F696C9A}"/>
                </a:ext>
              </a:extLst>
            </p:cNvPr>
            <p:cNvSpPr/>
            <p:nvPr/>
          </p:nvSpPr>
          <p:spPr>
            <a:xfrm>
              <a:off x="8121869" y="3991809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2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27">
              <a:extLst>
                <a:ext uri="{FF2B5EF4-FFF2-40B4-BE49-F238E27FC236}">
                  <a16:creationId xmlns:a16="http://schemas.microsoft.com/office/drawing/2014/main" id="{C665F6EB-9E79-362B-4DE9-9A4BD4567852}"/>
                </a:ext>
              </a:extLst>
            </p:cNvPr>
            <p:cNvSpPr/>
            <p:nvPr/>
          </p:nvSpPr>
          <p:spPr>
            <a:xfrm>
              <a:off x="8121869" y="4267616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5,000 – 19,999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28">
              <a:extLst>
                <a:ext uri="{FF2B5EF4-FFF2-40B4-BE49-F238E27FC236}">
                  <a16:creationId xmlns:a16="http://schemas.microsoft.com/office/drawing/2014/main" id="{224E5992-CAEE-F092-0B74-2BA771005080}"/>
                </a:ext>
              </a:extLst>
            </p:cNvPr>
            <p:cNvSpPr/>
            <p:nvPr/>
          </p:nvSpPr>
          <p:spPr>
            <a:xfrm>
              <a:off x="9665477" y="4138017"/>
              <a:ext cx="1760343" cy="308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Anti-Greedy Agent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D8A029-8CEF-EBEA-3890-AB8D3E91B013}"/>
              </a:ext>
            </a:extLst>
          </p:cNvPr>
          <p:cNvGrpSpPr/>
          <p:nvPr/>
        </p:nvGrpSpPr>
        <p:grpSpPr>
          <a:xfrm>
            <a:off x="7721618" y="5278461"/>
            <a:ext cx="3960001" cy="684000"/>
            <a:chOff x="7984507" y="4869382"/>
            <a:chExt cx="3517685" cy="684000"/>
          </a:xfrm>
        </p:grpSpPr>
        <p:sp>
          <p:nvSpPr>
            <p:cNvPr id="55" name="Shape 29">
              <a:extLst>
                <a:ext uri="{FF2B5EF4-FFF2-40B4-BE49-F238E27FC236}">
                  <a16:creationId xmlns:a16="http://schemas.microsoft.com/office/drawing/2014/main" id="{25737D4B-0368-AB88-A490-B717604906C1}"/>
                </a:ext>
              </a:extLst>
            </p:cNvPr>
            <p:cNvSpPr/>
            <p:nvPr/>
          </p:nvSpPr>
          <p:spPr>
            <a:xfrm>
              <a:off x="7984508" y="4869382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Shape 30">
              <a:extLst>
                <a:ext uri="{FF2B5EF4-FFF2-40B4-BE49-F238E27FC236}">
                  <a16:creationId xmlns:a16="http://schemas.microsoft.com/office/drawing/2014/main" id="{63FF2995-0F07-7D91-D97C-C840BE0E6D5E}"/>
                </a:ext>
              </a:extLst>
            </p:cNvPr>
            <p:cNvSpPr/>
            <p:nvPr/>
          </p:nvSpPr>
          <p:spPr>
            <a:xfrm>
              <a:off x="7984507" y="4869382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31">
              <a:extLst>
                <a:ext uri="{FF2B5EF4-FFF2-40B4-BE49-F238E27FC236}">
                  <a16:creationId xmlns:a16="http://schemas.microsoft.com/office/drawing/2014/main" id="{80125D76-0245-024F-48B9-6608D4F6EF54}"/>
                </a:ext>
              </a:extLst>
            </p:cNvPr>
            <p:cNvSpPr/>
            <p:nvPr/>
          </p:nvSpPr>
          <p:spPr>
            <a:xfrm>
              <a:off x="8137252" y="4924543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3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 32">
              <a:extLst>
                <a:ext uri="{FF2B5EF4-FFF2-40B4-BE49-F238E27FC236}">
                  <a16:creationId xmlns:a16="http://schemas.microsoft.com/office/drawing/2014/main" id="{5625BEF3-9F2A-2132-6908-4E25385C15C6}"/>
                </a:ext>
              </a:extLst>
            </p:cNvPr>
            <p:cNvSpPr/>
            <p:nvPr/>
          </p:nvSpPr>
          <p:spPr>
            <a:xfrm>
              <a:off x="8137252" y="5200350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20,000 – 100,000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 33">
              <a:extLst>
                <a:ext uri="{FF2B5EF4-FFF2-40B4-BE49-F238E27FC236}">
                  <a16:creationId xmlns:a16="http://schemas.microsoft.com/office/drawing/2014/main" id="{3608A000-626B-7D60-D712-85B0F200D337}"/>
                </a:ext>
              </a:extLst>
            </p:cNvPr>
            <p:cNvSpPr/>
            <p:nvPr/>
          </p:nvSpPr>
          <p:spPr>
            <a:xfrm>
              <a:off x="9665476" y="4951616"/>
              <a:ext cx="1760343" cy="5493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50% Greedy Agent &amp; 50% Self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597E008-0872-66F1-8105-0FCE161DE3C1}"/>
              </a:ext>
            </a:extLst>
          </p:cNvPr>
          <p:cNvSpPr txBox="1"/>
          <p:nvPr/>
        </p:nvSpPr>
        <p:spPr>
          <a:xfrm>
            <a:off x="3034099" y="3124416"/>
            <a:ext cx="448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 Warm-Start (Behavioral Cloning)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4023EA-E6ED-9713-A73D-FB1CEC7BF053}"/>
              </a:ext>
            </a:extLst>
          </p:cNvPr>
          <p:cNvSpPr txBox="1"/>
          <p:nvPr/>
        </p:nvSpPr>
        <p:spPr>
          <a:xfrm>
            <a:off x="3034100" y="3538435"/>
            <a:ext cx="3974366" cy="1077218"/>
          </a:xfrm>
          <a:prstGeom prst="rect">
            <a:avLst/>
          </a:prstGeom>
          <a:solidFill>
            <a:srgbClr val="FFF8E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Start with 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5,000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games → pre-trains network to imitate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 agent</a:t>
            </a:r>
            <a:endParaRPr sz="1600" b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Epsilon starts at 0.3 (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instead of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1.0)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8A3E8E-D81C-BCF5-7AA5-D594E0719AA5}"/>
              </a:ext>
            </a:extLst>
          </p:cNvPr>
          <p:cNvSpPr txBox="1"/>
          <p:nvPr/>
        </p:nvSpPr>
        <p:spPr>
          <a:xfrm>
            <a:off x="3034099" y="4736150"/>
            <a:ext cx="448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 </a:t>
            </a:r>
            <a:r>
              <a:rPr lang="en-US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Prioritized Replay Buffer</a:t>
            </a:r>
            <a:endParaRPr b="1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546AF5-A33A-77BA-A0CD-7750C104EE0B}"/>
              </a:ext>
            </a:extLst>
          </p:cNvPr>
          <p:cNvSpPr txBox="1"/>
          <p:nvPr/>
        </p:nvSpPr>
        <p:spPr>
          <a:xfrm>
            <a:off x="3034099" y="5150169"/>
            <a:ext cx="3974366" cy="830997"/>
          </a:xfrm>
          <a:prstGeom prst="rect">
            <a:avLst/>
          </a:prstGeom>
          <a:solidFill>
            <a:srgbClr val="FFF8E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>
                <a:latin typeface="Arial" panose="020B0604020202020204" pitchFamily="34" charset="0"/>
                <a:cs typeface="Arial" panose="020B0604020202020204" pitchFamily="34" charset="0"/>
              </a:rPr>
              <a:t>Samples by TD error — surprising turns seen more often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>
                <a:latin typeface="Arial" panose="020B0604020202020204" pitchFamily="34" charset="0"/>
                <a:cs typeface="Arial" panose="020B0604020202020204" pitchFamily="34" charset="0"/>
              </a:rPr>
              <a:t>Epsilon: 0.3 → 0.05 over 100,000</a:t>
            </a:r>
            <a:endParaRPr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49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0F0C-0163-DE4B-5A7B-5427A417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9F31AF7-E09D-EE5E-BEA7-C497F7F1E4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F31AF7-E09D-EE5E-BEA7-C497F7F1E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F8B43-AEE1-3506-1ECD-64BB57C1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28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D9D2CC-EAEC-F546-1FEB-269A7624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048" y="1862946"/>
            <a:ext cx="9888125" cy="3146935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Information Set Monte Carlo Tree Search Agent</a:t>
            </a:r>
            <a:br>
              <a:rPr lang="en-US" sz="6000" b="1">
                <a:latin typeface="Arial"/>
                <a:cs typeface="Arial"/>
              </a:rPr>
            </a:b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(ISMCTS)</a:t>
            </a:r>
          </a:p>
        </p:txBody>
      </p:sp>
      <p:pic>
        <p:nvPicPr>
          <p:cNvPr id="6" name="Picture 5" descr="Number Cards | Uno Wiki | Fandom">
            <a:extLst>
              <a:ext uri="{FF2B5EF4-FFF2-40B4-BE49-F238E27FC236}">
                <a16:creationId xmlns:a16="http://schemas.microsoft.com/office/drawing/2014/main" id="{3A759AD6-DB2C-CEA1-6A0F-BA3475A9D5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4267" y="1852613"/>
            <a:ext cx="20669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63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09EA-3933-8BE9-40FB-324DC225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0720212-DC8E-BAF8-F00E-E5C819CE0F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18431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720212-DC8E-BAF8-F00E-E5C819CE0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3B496-5BA4-8520-AC92-F0C2B5CE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>
                <a:ea typeface="Calibri"/>
              </a:rPr>
              <a:t>29</a:t>
            </a:fld>
            <a:endParaRPr lang="en-GB">
              <a:ea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DBADE4-44AC-DC0E-8683-40E9C5A04BF3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Algorithm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&amp;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UCB1</a:t>
            </a:r>
            <a:endParaRPr lang="zh-CN">
              <a:latin typeface="Arial"/>
              <a:ea typeface="等线 Light"/>
              <a:cs typeface="Arial"/>
            </a:endParaRPr>
          </a:p>
        </p:txBody>
      </p:sp>
      <p:sp>
        <p:nvSpPr>
          <p:cNvPr id="2" name="箭头: V 形 1">
            <a:extLst>
              <a:ext uri="{FF2B5EF4-FFF2-40B4-BE49-F238E27FC236}">
                <a16:creationId xmlns:a16="http://schemas.microsoft.com/office/drawing/2014/main" id="{D8F4D476-ECEA-86EB-C3FA-B5E744921577}"/>
              </a:ext>
            </a:extLst>
          </p:cNvPr>
          <p:cNvSpPr/>
          <p:nvPr/>
        </p:nvSpPr>
        <p:spPr>
          <a:xfrm>
            <a:off x="560948" y="1595361"/>
            <a:ext cx="2336606" cy="606777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ABD109BD-D0DF-B93E-D5D1-3C2014DA914E}"/>
              </a:ext>
            </a:extLst>
          </p:cNvPr>
          <p:cNvSpPr/>
          <p:nvPr/>
        </p:nvSpPr>
        <p:spPr>
          <a:xfrm>
            <a:off x="2671148" y="1588103"/>
            <a:ext cx="2336799" cy="606777"/>
          </a:xfrm>
          <a:prstGeom prst="chevron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D4D35A71-82E2-EC8D-9A06-28946738FA8B}"/>
              </a:ext>
            </a:extLst>
          </p:cNvPr>
          <p:cNvSpPr/>
          <p:nvPr/>
        </p:nvSpPr>
        <p:spPr>
          <a:xfrm>
            <a:off x="4798169" y="1588240"/>
            <a:ext cx="2285848" cy="606777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4C8D53A2-D697-83F3-0AED-9F3D71EF4B9E}"/>
              </a:ext>
            </a:extLst>
          </p:cNvPr>
          <p:cNvSpPr/>
          <p:nvPr/>
        </p:nvSpPr>
        <p:spPr>
          <a:xfrm>
            <a:off x="6872762" y="1595360"/>
            <a:ext cx="2338704" cy="606777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8" name="箭头: V 形 7">
            <a:extLst>
              <a:ext uri="{FF2B5EF4-FFF2-40B4-BE49-F238E27FC236}">
                <a16:creationId xmlns:a16="http://schemas.microsoft.com/office/drawing/2014/main" id="{C5FACB41-9599-5998-0F67-408F66341B34}"/>
              </a:ext>
            </a:extLst>
          </p:cNvPr>
          <p:cNvSpPr/>
          <p:nvPr/>
        </p:nvSpPr>
        <p:spPr>
          <a:xfrm>
            <a:off x="9004598" y="1595359"/>
            <a:ext cx="2334019" cy="606777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DD9596-E1BC-2D5D-79CA-9B6D696C14F3}"/>
              </a:ext>
            </a:extLst>
          </p:cNvPr>
          <p:cNvSpPr/>
          <p:nvPr/>
        </p:nvSpPr>
        <p:spPr>
          <a:xfrm>
            <a:off x="992153" y="1680449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Sample</a:t>
            </a:r>
            <a:endParaRPr lang="en-US" sz="200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A65060-5B73-A9B4-860C-42E01D367631}"/>
              </a:ext>
            </a:extLst>
          </p:cNvPr>
          <p:cNvSpPr/>
          <p:nvPr/>
        </p:nvSpPr>
        <p:spPr>
          <a:xfrm>
            <a:off x="3114498" y="1688791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6E78DB7-B523-75E0-C579-9BF51116B1EF}"/>
              </a:ext>
            </a:extLst>
          </p:cNvPr>
          <p:cNvSpPr/>
          <p:nvPr/>
        </p:nvSpPr>
        <p:spPr>
          <a:xfrm>
            <a:off x="5223821" y="1681669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Expand</a:t>
            </a: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8D56E6E1-539D-2617-8370-3632E3D4D85A}"/>
              </a:ext>
            </a:extLst>
          </p:cNvPr>
          <p:cNvSpPr/>
          <p:nvPr/>
        </p:nvSpPr>
        <p:spPr>
          <a:xfrm>
            <a:off x="7317002" y="1681263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Rollout</a:t>
            </a: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9C2EBE5-0C09-46B2-2E5D-30D888F28F83}"/>
              </a:ext>
            </a:extLst>
          </p:cNvPr>
          <p:cNvSpPr/>
          <p:nvPr/>
        </p:nvSpPr>
        <p:spPr>
          <a:xfrm>
            <a:off x="9452777" y="1681263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Backprop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8B4EA0-5EFE-336C-83F9-300B43B5D0A8}"/>
              </a:ext>
            </a:extLst>
          </p:cNvPr>
          <p:cNvSpPr txBox="1"/>
          <p:nvPr/>
        </p:nvSpPr>
        <p:spPr>
          <a:xfrm>
            <a:off x="575621" y="1084095"/>
            <a:ext cx="110422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Hidden info → re-sample one possible world each iteration; share one tree across all samples.</a:t>
            </a:r>
            <a:endParaRPr 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D99155-5E41-EB02-017D-75C1A3E93089}"/>
              </a:ext>
            </a:extLst>
          </p:cNvPr>
          <p:cNvSpPr txBox="1"/>
          <p:nvPr/>
        </p:nvSpPr>
        <p:spPr>
          <a:xfrm>
            <a:off x="575622" y="2281523"/>
            <a:ext cx="20955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draw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plausible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opponent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hand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D0F17B-81B3-944F-C413-C36BE474F5A9}"/>
              </a:ext>
            </a:extLst>
          </p:cNvPr>
          <p:cNvSpPr txBox="1"/>
          <p:nvPr/>
        </p:nvSpPr>
        <p:spPr>
          <a:xfrm>
            <a:off x="2701962" y="2288779"/>
            <a:ext cx="20796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walk tree by UCB1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on legal children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2E076E-968B-256A-4AC8-716B8FF4E4F4}"/>
              </a:ext>
            </a:extLst>
          </p:cNvPr>
          <p:cNvSpPr txBox="1"/>
          <p:nvPr/>
        </p:nvSpPr>
        <p:spPr>
          <a:xfrm>
            <a:off x="4792019" y="2281522"/>
            <a:ext cx="24860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add one child for an untried legal action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1091AA-97D7-D9A2-4E1A-28BF94DDD410}"/>
              </a:ext>
            </a:extLst>
          </p:cNvPr>
          <p:cNvSpPr txBox="1"/>
          <p:nvPr/>
        </p:nvSpPr>
        <p:spPr>
          <a:xfrm>
            <a:off x="6945762" y="2288778"/>
            <a:ext cx="22030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 play until terminal or depth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BD4964-40FB-C8D5-FACF-1ED84D7CC367}"/>
              </a:ext>
            </a:extLst>
          </p:cNvPr>
          <p:cNvSpPr txBox="1"/>
          <p:nvPr/>
        </p:nvSpPr>
        <p:spPr>
          <a:xfrm>
            <a:off x="9193306" y="2281521"/>
            <a:ext cx="22465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push result up;</a:t>
            </a: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visits &amp; availability 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7E8079-5027-B1FF-E315-D7D2BBDBD1CD}"/>
              </a:ext>
            </a:extLst>
          </p:cNvPr>
          <p:cNvSpPr/>
          <p:nvPr/>
        </p:nvSpPr>
        <p:spPr>
          <a:xfrm>
            <a:off x="566904" y="2964739"/>
            <a:ext cx="5372582" cy="330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F95B08-08F8-7D30-72E9-C662EC76A7A7}"/>
              </a:ext>
            </a:extLst>
          </p:cNvPr>
          <p:cNvSpPr txBox="1"/>
          <p:nvPr/>
        </p:nvSpPr>
        <p:spPr>
          <a:xfrm>
            <a:off x="1343787" y="3091506"/>
            <a:ext cx="42931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 b="1" err="1">
                <a:latin typeface="Arial"/>
                <a:ea typeface="Calibri"/>
                <a:cs typeface="Arial"/>
              </a:rPr>
              <a:t>Wh</a:t>
            </a:r>
            <a:r>
              <a:rPr lang="zh-CN" sz="2000" b="1">
                <a:latin typeface="Arial"/>
                <a:ea typeface="+mn-lt"/>
                <a:cs typeface="Arial"/>
              </a:rPr>
              <a:t>a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t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zh-CN" sz="2000" b="1">
                <a:latin typeface="Arial"/>
                <a:ea typeface="+mn-lt"/>
                <a:cs typeface="Arial"/>
              </a:rPr>
              <a:t>doe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s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ISMCTS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err="1">
                <a:latin typeface="Arial"/>
                <a:ea typeface="Calibri"/>
                <a:cs typeface="Arial"/>
              </a:rPr>
              <a:t>mea</a:t>
            </a:r>
            <a:r>
              <a:rPr lang="zh-CN" sz="2000" b="1">
                <a:latin typeface="Arial"/>
                <a:ea typeface="+mn-lt"/>
                <a:cs typeface="Arial"/>
              </a:rPr>
              <a:t>n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?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endParaRPr lang="zh-CN" sz="2000" b="1">
              <a:latin typeface="Arial"/>
              <a:cs typeface="Arial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FE4C16-9826-60BF-91E3-78152F2A7CBC}"/>
              </a:ext>
            </a:extLst>
          </p:cNvPr>
          <p:cNvSpPr txBox="1"/>
          <p:nvPr/>
        </p:nvSpPr>
        <p:spPr>
          <a:xfrm>
            <a:off x="720763" y="3472099"/>
            <a:ext cx="5207371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Single-Observer</a:t>
            </a:r>
            <a:r>
              <a:rPr lang="en-US">
                <a:solidFill>
                  <a:srgbClr val="FF0000"/>
                </a:solidFill>
                <a:latin typeface="Arial"/>
                <a:ea typeface="Calibri"/>
                <a:cs typeface="Arial"/>
              </a:rPr>
              <a:t>: </a:t>
            </a:r>
            <a:r>
              <a:rPr lang="en-US">
                <a:latin typeface="Arial"/>
                <a:ea typeface="Calibri"/>
                <a:cs typeface="Arial"/>
              </a:rPr>
              <a:t>model only player 0's information set; 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r>
              <a:rPr lang="en-US" b="1">
                <a:solidFill>
                  <a:srgbClr val="2E75B6"/>
                </a:solidFill>
                <a:latin typeface="Arial"/>
                <a:ea typeface="Calibri"/>
                <a:cs typeface="Arial"/>
              </a:rPr>
              <a:t>Information Set</a:t>
            </a:r>
            <a:r>
              <a:rPr lang="en-US" b="1">
                <a:latin typeface="Arial"/>
                <a:ea typeface="Calibri"/>
                <a:cs typeface="Arial"/>
              </a:rPr>
              <a:t>: </a:t>
            </a:r>
            <a:r>
              <a:rPr lang="en-US">
                <a:latin typeface="Arial"/>
                <a:ea typeface="Calibri"/>
                <a:cs typeface="Arial"/>
              </a:rPr>
              <a:t>the set of true game states consistent with what we've seen.</a:t>
            </a:r>
          </a:p>
          <a:p>
            <a:r>
              <a:rPr lang="en-US" b="1">
                <a:solidFill>
                  <a:srgbClr val="FFC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Monte Carlo TS</a:t>
            </a:r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 :</a:t>
            </a:r>
            <a:r>
              <a:rPr lang="en-US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tree search guided by simulated playouts (the 5-step loop above).</a:t>
            </a:r>
          </a:p>
          <a:p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vs determinized UCT</a:t>
            </a:r>
            <a:r>
              <a:rPr lang="en-US">
                <a:latin typeface="Arial"/>
                <a:ea typeface="Calibri"/>
                <a:cs typeface="Arial"/>
              </a:rPr>
              <a:t> :fix one world before search; entire tree is biased toward that sample. ISMCTS resamples per iteration, averaging over uncertainty.</a:t>
            </a:r>
            <a:endParaRPr lang="zh-CN">
              <a:latin typeface="Arial"/>
              <a:cs typeface="Arial"/>
            </a:endParaRPr>
          </a:p>
          <a:p>
            <a:endParaRPr lang="en-US" altLang="zh-CN" sz="160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B55C1DE-DB8E-36BF-2C64-F321D02B735C}"/>
              </a:ext>
            </a:extLst>
          </p:cNvPr>
          <p:cNvSpPr/>
          <p:nvPr/>
        </p:nvSpPr>
        <p:spPr>
          <a:xfrm>
            <a:off x="6082603" y="2964874"/>
            <a:ext cx="5386689" cy="33308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16140EE-6FA8-4975-EE58-B52A852F31B4}"/>
              </a:ext>
            </a:extLst>
          </p:cNvPr>
          <p:cNvSpPr txBox="1"/>
          <p:nvPr/>
        </p:nvSpPr>
        <p:spPr>
          <a:xfrm>
            <a:off x="6851594" y="3091506"/>
            <a:ext cx="42931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0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UCB1 — availability-normalized</a:t>
            </a:r>
            <a:endParaRPr lang="zh-CN" altLang="en-US" sz="20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B05DEB5-8830-1D4B-D90E-CF7CC6E9D553}"/>
              </a:ext>
            </a:extLst>
          </p:cNvPr>
          <p:cNvSpPr/>
          <p:nvPr/>
        </p:nvSpPr>
        <p:spPr>
          <a:xfrm>
            <a:off x="6307070" y="3532530"/>
            <a:ext cx="5015359" cy="6180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b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ucb1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(c)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= wins/visits</a:t>
            </a:r>
            <a:endParaRPr lang="zh-CN" altLang="en-US">
              <a:solidFill>
                <a:prstClr val="black"/>
              </a:solidFill>
              <a:latin typeface="Arial"/>
              <a:ea typeface="等线"/>
              <a:cs typeface="Arial"/>
            </a:endParaRPr>
          </a:p>
          <a:p>
            <a:pPr>
              <a:defRPr/>
            </a:pPr>
            <a:r>
              <a:rPr lang="en-US">
                <a:solidFill>
                  <a:prstClr val="black"/>
                </a:solidFill>
                <a:latin typeface="Arial"/>
                <a:ea typeface="Calibri"/>
                <a:cs typeface="Arial"/>
              </a:rPr>
              <a:t>       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+ c · √( log(availability) / visits )</a:t>
            </a:r>
            <a:endParaRPr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等线"/>
              <a:cs typeface="Arial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002CFE-75FF-547B-9A7D-C92176AFECF2}"/>
              </a:ext>
            </a:extLst>
          </p:cNvPr>
          <p:cNvSpPr txBox="1"/>
          <p:nvPr/>
        </p:nvSpPr>
        <p:spPr>
          <a:xfrm>
            <a:off x="6316019" y="4157941"/>
            <a:ext cx="516396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latin typeface="Arial"/>
                <a:ea typeface="等线"/>
                <a:cs typeface="Arial"/>
              </a:rPr>
              <a:t>availability  = times node was legal across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endParaRPr lang="zh-CN" altLang="en-US">
              <a:latin typeface="Arial"/>
              <a:cs typeface="Arial"/>
            </a:endParaRPr>
          </a:p>
          <a:p>
            <a:r>
              <a:rPr lang="zh-CN">
                <a:latin typeface="Arial"/>
                <a:ea typeface="等线"/>
                <a:cs typeface="Arial"/>
              </a:rPr>
              <a:t>determinizations
visits         </a:t>
            </a:r>
            <a:r>
              <a:rPr lang="zh-CN" altLang="en-US">
                <a:latin typeface="Arial"/>
                <a:ea typeface="等线"/>
                <a:cs typeface="Arial"/>
              </a:rPr>
              <a:t>   </a:t>
            </a:r>
            <a:r>
              <a:rPr lang="zh-CN">
                <a:latin typeface="Arial"/>
                <a:ea typeface="等线"/>
                <a:cs typeface="Arial"/>
              </a:rPr>
              <a:t>= times node was actually selected
availability ≥ 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visits  (always)</a:t>
            </a:r>
            <a:endParaRPr lang="zh-CN">
              <a:latin typeface="Arial"/>
              <a:cs typeface="Arial"/>
            </a:endParaRPr>
          </a:p>
          <a:p>
            <a:endParaRPr lang="zh-CN" altLang="en-US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  <a:p>
            <a:r>
              <a:rPr lang="zh-CN" b="1">
                <a:solidFill>
                  <a:srgbClr val="FF0000"/>
                </a:solidFill>
                <a:latin typeface="Arial"/>
                <a:ea typeface="等线"/>
                <a:cs typeface="Arial"/>
              </a:rPr>
              <a:t>vs UCT: </a:t>
            </a:r>
            <a:r>
              <a:rPr lang="zh-CN">
                <a:latin typeface="Arial"/>
                <a:ea typeface="等线"/>
                <a:cs typeface="Arial"/>
              </a:rPr>
              <a:t>uses log(parent.visits) 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— ignores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legality across determinizations</a:t>
            </a:r>
            <a:endParaRPr lang="zh-CN" altLang="en-US">
              <a:latin typeface="Arial"/>
              <a:ea typeface="等线" panose="02010600030101010101" pitchFamily="2" charset="-122"/>
              <a:cs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251B37-0BB1-AFE5-E100-BCA9F246DA92}"/>
              </a:ext>
            </a:extLst>
          </p:cNvPr>
          <p:cNvSpPr txBox="1"/>
          <p:nvPr/>
        </p:nvSpPr>
        <p:spPr>
          <a:xfrm>
            <a:off x="526990" y="6053271"/>
            <a:ext cx="1034041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br>
              <a:rPr lang="af-ZA" b="1"/>
            </a:br>
            <a:r>
              <a:rPr lang="af-ZA" sz="1400" b="1">
                <a:solidFill>
                  <a:schemeClr val="bg1">
                    <a:lumMod val="95000"/>
                  </a:schemeClr>
                </a:solidFill>
              </a:rPr>
              <a:t>UCB</a:t>
            </a:r>
            <a:r>
              <a:rPr lang="af-ZA" sz="1400">
                <a:solidFill>
                  <a:schemeClr val="bg1">
                    <a:lumMod val="95000"/>
                  </a:schemeClr>
                </a:solidFill>
              </a:rPr>
              <a:t> (Upper Confidence Bound) A formula that balances trying new options vs sticking with what's worked.</a:t>
            </a:r>
            <a:endParaRPr lang="af-ZA" sz="14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algn="l"/>
            <a:r>
              <a:rPr lang="af-ZA" sz="1400" b="1">
                <a:solidFill>
                  <a:schemeClr val="bg1">
                    <a:lumMod val="95000"/>
                  </a:schemeClr>
                </a:solidFill>
              </a:rPr>
              <a:t>UCT</a:t>
            </a:r>
            <a:r>
              <a:rPr lang="af-ZA" sz="1400">
                <a:solidFill>
                  <a:schemeClr val="bg1">
                    <a:lumMod val="95000"/>
                  </a:schemeClr>
                </a:solidFill>
              </a:rPr>
              <a:t> (Upper Confidence bounds applied to Trees) Applying UCB to tree search. Introduced by Kocsis &amp; Szepesvári in 2006.</a:t>
            </a:r>
            <a:endParaRPr lang="zh-CN" altLang="en-US" sz="1400">
              <a:solidFill>
                <a:schemeClr val="bg1">
                  <a:lumMod val="95000"/>
                </a:schemeClr>
              </a:solidFill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852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5773-002A-B18E-BC83-BA31A68A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885E4FC-27E4-0230-09B1-5BA2CCB4FE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4926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85E4FC-27E4-0230-09B1-5BA2CCB4F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EFB8A-0583-53C6-24E3-E7A464B9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30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EEB36A-F7AB-310D-1593-126336A0AE89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>
                <a:latin typeface="Arial"/>
                <a:ea typeface="Calibri"/>
                <a:cs typeface="Arial"/>
              </a:rPr>
              <a:t>Experimental Design 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CCC1830-FB0E-9F28-F10B-763B082E01DB}"/>
              </a:ext>
            </a:extLst>
          </p:cNvPr>
          <p:cNvSpPr/>
          <p:nvPr/>
        </p:nvSpPr>
        <p:spPr>
          <a:xfrm>
            <a:off x="794793" y="1913063"/>
            <a:ext cx="4935662" cy="18001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3F0D438-886F-1EBA-B689-3BDEDB58DC59}"/>
              </a:ext>
            </a:extLst>
          </p:cNvPr>
          <p:cNvSpPr/>
          <p:nvPr/>
        </p:nvSpPr>
        <p:spPr>
          <a:xfrm>
            <a:off x="6143306" y="1913062"/>
            <a:ext cx="4935662" cy="17930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ECEE407-2919-B155-3FD2-AD08014C518C}"/>
              </a:ext>
            </a:extLst>
          </p:cNvPr>
          <p:cNvSpPr/>
          <p:nvPr/>
        </p:nvSpPr>
        <p:spPr>
          <a:xfrm>
            <a:off x="794656" y="4053919"/>
            <a:ext cx="4900055" cy="18143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2D1D0D3-852A-AC15-7D73-5EEBF04AC94B}"/>
              </a:ext>
            </a:extLst>
          </p:cNvPr>
          <p:cNvSpPr/>
          <p:nvPr/>
        </p:nvSpPr>
        <p:spPr>
          <a:xfrm>
            <a:off x="6121805" y="4053918"/>
            <a:ext cx="4957026" cy="18143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0EE47926-507A-C4D3-F370-707B1124ED21}"/>
              </a:ext>
            </a:extLst>
          </p:cNvPr>
          <p:cNvSpPr/>
          <p:nvPr/>
        </p:nvSpPr>
        <p:spPr>
          <a:xfrm>
            <a:off x="1013671" y="2121246"/>
            <a:ext cx="384048" cy="310896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c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F873F96D-D682-DB8F-6089-AB5EC142A213}"/>
              </a:ext>
            </a:extLst>
          </p:cNvPr>
          <p:cNvSpPr/>
          <p:nvPr/>
        </p:nvSpPr>
        <p:spPr>
          <a:xfrm>
            <a:off x="1499357" y="211210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c — exploration constant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9BCFCF89-1616-16B6-7181-0EFFAB7BE1D9}"/>
              </a:ext>
            </a:extLst>
          </p:cNvPr>
          <p:cNvSpPr/>
          <p:nvPr/>
        </p:nvSpPr>
        <p:spPr>
          <a:xfrm>
            <a:off x="1127615" y="2673929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0.35, 0.7, 1.0, 1.41, 2.0, 3.0 }</a:t>
            </a: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234605C-CC80-6BD7-9B5F-0E445D3A6BC6}"/>
              </a:ext>
            </a:extLst>
          </p:cNvPr>
          <p:cNvSpPr/>
          <p:nvPr/>
        </p:nvSpPr>
        <p:spPr>
          <a:xfrm>
            <a:off x="1127615" y="3018410"/>
            <a:ext cx="4121331" cy="53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Centred</a:t>
            </a: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 on √2 ≈ 1.41 (UCT theoretical optimum); halves and doubles around it.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EABB8C0-93FE-23F6-8D7C-8DBB0E87723B}"/>
              </a:ext>
            </a:extLst>
          </p:cNvPr>
          <p:cNvSpPr/>
          <p:nvPr/>
        </p:nvSpPr>
        <p:spPr>
          <a:xfrm>
            <a:off x="1027914" y="4255666"/>
            <a:ext cx="384048" cy="310896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d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EDE56D5-869A-8AAB-06EB-7198B947CECF}"/>
              </a:ext>
            </a:extLst>
          </p:cNvPr>
          <p:cNvSpPr/>
          <p:nvPr/>
        </p:nvSpPr>
        <p:spPr>
          <a:xfrm>
            <a:off x="1492235" y="4242962"/>
            <a:ext cx="4341690" cy="33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rollout_depth — playout horizon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173809F-8BC0-AFDD-AF32-AF56BA5838F9}"/>
              </a:ext>
            </a:extLst>
          </p:cNvPr>
          <p:cNvSpPr/>
          <p:nvPr/>
        </p:nvSpPr>
        <p:spPr>
          <a:xfrm>
            <a:off x="1127615" y="47424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10, 20, 30, 50, 100, 150 } 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204078A-D341-3310-D8ED-AF49A23776CB}"/>
              </a:ext>
            </a:extLst>
          </p:cNvPr>
          <p:cNvSpPr/>
          <p:nvPr/>
        </p:nvSpPr>
        <p:spPr>
          <a:xfrm>
            <a:off x="1127615" y="5065473"/>
            <a:ext cx="4230188" cy="42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Around UNO's ~31 plies / player; heuristic fallback past the depth limit.</a:t>
            </a:r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50271976-F303-CEA3-3756-3257660EE7CC}"/>
              </a:ext>
            </a:extLst>
          </p:cNvPr>
          <p:cNvSpPr/>
          <p:nvPr/>
        </p:nvSpPr>
        <p:spPr>
          <a:xfrm>
            <a:off x="6318181" y="2121246"/>
            <a:ext cx="384048" cy="31089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n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2C825F66-8ED4-F5C4-97C7-4D6E5BABAE50}"/>
              </a:ext>
            </a:extLst>
          </p:cNvPr>
          <p:cNvSpPr/>
          <p:nvPr/>
        </p:nvSpPr>
        <p:spPr>
          <a:xfrm>
            <a:off x="6803190" y="2090195"/>
            <a:ext cx="4308591" cy="37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err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 — search budget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7FB5E2D8-4116-6B80-5AB3-9CEB18D88C7F}"/>
              </a:ext>
            </a:extLst>
          </p:cNvPr>
          <p:cNvSpPr/>
          <p:nvPr/>
        </p:nvSpPr>
        <p:spPr>
          <a:xfrm>
            <a:off x="6560312" y="269997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25, 50, 100, 200, 500 }</a:t>
            </a:r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2B923080-06BC-38A5-33F9-BD6F67EED509}"/>
              </a:ext>
            </a:extLst>
          </p:cNvPr>
          <p:cNvSpPr/>
          <p:nvPr/>
        </p:nvSpPr>
        <p:spPr>
          <a:xfrm>
            <a:off x="6560312" y="3023091"/>
            <a:ext cx="4461263" cy="40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Doubling schedule to find the gain-curve elbow</a:t>
            </a: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32B63055-AD95-CF15-260D-F3E36C166120}"/>
              </a:ext>
            </a:extLst>
          </p:cNvPr>
          <p:cNvSpPr/>
          <p:nvPr/>
        </p:nvSpPr>
        <p:spPr>
          <a:xfrm>
            <a:off x="6332424" y="4255666"/>
            <a:ext cx="384048" cy="310896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π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7F44198-4B35-5254-D2CE-B7539AFF5D11}"/>
              </a:ext>
            </a:extLst>
          </p:cNvPr>
          <p:cNvSpPr/>
          <p:nvPr/>
        </p:nvSpPr>
        <p:spPr>
          <a:xfrm>
            <a:off x="6803867" y="424652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err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rollout_policy</a:t>
            </a: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 — playout π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26CEEF16-DBA1-FD79-1867-78BAB0DDAFA6}"/>
              </a:ext>
            </a:extLst>
          </p:cNvPr>
          <p:cNvSpPr/>
          <p:nvPr/>
        </p:nvSpPr>
        <p:spPr>
          <a:xfrm>
            <a:off x="6560312" y="4742493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random, rule }</a:t>
            </a: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3ECE8FC6-260A-69E8-9C97-0A13C98904BB}"/>
              </a:ext>
            </a:extLst>
          </p:cNvPr>
          <p:cNvSpPr/>
          <p:nvPr/>
        </p:nvSpPr>
        <p:spPr>
          <a:xfrm>
            <a:off x="6560312" y="5065474"/>
            <a:ext cx="4259217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Random gives unbiased trajectories; rule is a lightweight priority heuristic.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B020754-6ACA-2D36-84A8-80F2B79BA79E}"/>
              </a:ext>
            </a:extLst>
          </p:cNvPr>
          <p:cNvSpPr txBox="1"/>
          <p:nvPr/>
        </p:nvSpPr>
        <p:spPr>
          <a:xfrm>
            <a:off x="551544" y="1135743"/>
            <a:ext cx="109437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 baseline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Vary one parameter at a time; isolate each effect against the same </a:t>
            </a:r>
            <a:r>
              <a:rPr lang="en-US" b="0" i="0" u="none" strike="noStrike" baseline="0">
                <a:solidFill>
                  <a:srgbClr val="FF0000"/>
                </a:solidFill>
                <a:latin typeface="Arial"/>
                <a:ea typeface="Calibri"/>
                <a:cs typeface="Arial"/>
              </a:rPr>
              <a:t>rule-based</a:t>
            </a:r>
            <a:r>
              <a:rPr lang="en-US" b="0" i="0" u="none" strike="noStrike" baseline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 opponent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(500 games).</a:t>
            </a:r>
            <a:endParaRPr lang="zh-CN" altLang="en-US">
              <a:solidFill>
                <a:schemeClr val="bg1"/>
              </a:solidFill>
              <a:latin typeface="Arial"/>
              <a:ea typeface="等线"/>
              <a:cs typeface="Arial"/>
            </a:endParaRPr>
          </a:p>
          <a:p>
            <a:pPr algn="ctr"/>
            <a:endParaRPr lang="zh-CN" altLang="en-US">
              <a:latin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3F58B3-FD05-98EF-4FF9-EAB284E3C00F}"/>
              </a:ext>
            </a:extLst>
          </p:cNvPr>
          <p:cNvSpPr txBox="1"/>
          <p:nvPr/>
        </p:nvSpPr>
        <p:spPr>
          <a:xfrm>
            <a:off x="726392" y="6195700"/>
            <a:ext cx="100840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</a:schemeClr>
                </a:solidFill>
                <a:latin typeface="Arial"/>
                <a:ea typeface="Calibri"/>
                <a:cs typeface="Arial"/>
              </a:rPr>
              <a:t>heuristic fallback</a:t>
            </a:r>
            <a:r>
              <a:rPr lang="zh-CN">
                <a:solidFill>
                  <a:schemeClr val="bg1">
                    <a:lumMod val="95000"/>
                  </a:schemeClr>
                </a:solidFill>
                <a:latin typeface="Arial"/>
                <a:ea typeface="等线"/>
                <a:cs typeface="Arial"/>
              </a:rPr>
              <a:t>score = 0.5 + 0.2 × (opponent_hand - my_hand) / (opponent_hand + my_hand)</a:t>
            </a:r>
          </a:p>
        </p:txBody>
      </p:sp>
    </p:spTree>
    <p:extLst>
      <p:ext uri="{BB962C8B-B14F-4D97-AF65-F5344CB8AC3E}">
        <p14:creationId xmlns:p14="http://schemas.microsoft.com/office/powerpoint/2010/main" val="2159605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725D-22A4-6724-A89A-C64A8FF0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B09F-D142-62FB-EAE7-2A37CD75D9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B09F-D142-62FB-EAE7-2A37CD75D9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E1904-18FC-71CB-2306-68BCA7F3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31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7ADE52-EF84-E5C0-A0B5-4F1F0442A317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en-US">
                <a:latin typeface="Arial"/>
                <a:ea typeface="Calibri"/>
                <a:cs typeface="Arial"/>
              </a:rPr>
              <a:t> 1D Sweep Results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52395BC6-2D22-E56A-1760-43AB46C79ED7}"/>
              </a:ext>
            </a:extLst>
          </p:cNvPr>
          <p:cNvSpPr/>
          <p:nvPr/>
        </p:nvSpPr>
        <p:spPr>
          <a:xfrm>
            <a:off x="1057471" y="1325148"/>
            <a:ext cx="2210558" cy="41206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c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6C16FC4-14AD-5E75-15C1-5BEA07A9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82" y="1857822"/>
            <a:ext cx="3742945" cy="2653936"/>
          </a:xfrm>
          <a:prstGeom prst="rect">
            <a:avLst/>
          </a:prstGeom>
        </p:spPr>
      </p:pic>
      <p:sp>
        <p:nvSpPr>
          <p:cNvPr id="6" name="Text 9">
            <a:extLst>
              <a:ext uri="{FF2B5EF4-FFF2-40B4-BE49-F238E27FC236}">
                <a16:creationId xmlns:a16="http://schemas.microsoft.com/office/drawing/2014/main" id="{E0497968-7FE0-292D-87BA-50F168E52252}"/>
              </a:ext>
            </a:extLst>
          </p:cNvPr>
          <p:cNvSpPr/>
          <p:nvPr/>
        </p:nvSpPr>
        <p:spPr>
          <a:xfrm>
            <a:off x="303204" y="4724393"/>
            <a:ext cx="373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Peak 57.0 % at c = 1.0 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flat in [0.7, 2.0]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BD4FEBF4-1D62-0E1F-E4D1-CE6C5724450B}"/>
              </a:ext>
            </a:extLst>
          </p:cNvPr>
          <p:cNvSpPr/>
          <p:nvPr/>
        </p:nvSpPr>
        <p:spPr>
          <a:xfrm>
            <a:off x="4892249" y="1325148"/>
            <a:ext cx="2390765" cy="404947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num_simulations</a:t>
            </a:r>
            <a:endParaRPr lang="zh-CN" altLang="en-US" err="1">
              <a:solidFill>
                <a:schemeClr val="bg1"/>
              </a:solidFill>
              <a:ea typeface="等线"/>
              <a:cs typeface="Calibri"/>
            </a:endParaRPr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BA367D66-A888-2985-A8AA-BFBA0ED76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756" y="1857822"/>
            <a:ext cx="3706658" cy="2653936"/>
          </a:xfrm>
          <a:prstGeom prst="rect">
            <a:avLst/>
          </a:prstGeom>
        </p:spPr>
      </p:pic>
      <p:sp>
        <p:nvSpPr>
          <p:cNvPr id="9" name="Text 13">
            <a:extLst>
              <a:ext uri="{FF2B5EF4-FFF2-40B4-BE49-F238E27FC236}">
                <a16:creationId xmlns:a16="http://schemas.microsoft.com/office/drawing/2014/main" id="{E7ECFFE3-6A13-3E09-6437-751815D0EBCA}"/>
              </a:ext>
            </a:extLst>
          </p:cNvPr>
          <p:cNvSpPr/>
          <p:nvPr/>
        </p:nvSpPr>
        <p:spPr>
          <a:xfrm>
            <a:off x="4214078" y="4724393"/>
            <a:ext cx="3698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Monotonic rise  51.6 % → 62.0 % </a:t>
            </a:r>
          </a:p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 most sensitive</a:t>
            </a: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37023FAC-4189-2D12-E667-CB8DFACB5651}"/>
              </a:ext>
            </a:extLst>
          </p:cNvPr>
          <p:cNvSpPr/>
          <p:nvPr/>
        </p:nvSpPr>
        <p:spPr>
          <a:xfrm>
            <a:off x="8788472" y="1325147"/>
            <a:ext cx="2384596" cy="412069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rollout_depth</a:t>
            </a:r>
            <a:endParaRPr lang="en-US" sz="2000" err="1">
              <a:latin typeface="Arial"/>
              <a:ea typeface="Calibri"/>
              <a:cs typeface="Arial"/>
            </a:endParaRPr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104C06A3-5FB0-CF0A-4268-293C6A5F2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349" y="1857821"/>
            <a:ext cx="3771508" cy="2668451"/>
          </a:xfrm>
          <a:prstGeom prst="rect">
            <a:avLst/>
          </a:prstGeom>
        </p:spPr>
      </p:pic>
      <p:sp>
        <p:nvSpPr>
          <p:cNvPr id="13" name="Text 17">
            <a:extLst>
              <a:ext uri="{FF2B5EF4-FFF2-40B4-BE49-F238E27FC236}">
                <a16:creationId xmlns:a16="http://schemas.microsoft.com/office/drawing/2014/main" id="{E4BC6418-0CD8-6B2B-3B4F-C546F0544699}"/>
              </a:ext>
            </a:extLst>
          </p:cNvPr>
          <p:cNvSpPr/>
          <p:nvPr/>
        </p:nvSpPr>
        <p:spPr>
          <a:xfrm>
            <a:off x="8066895" y="4724393"/>
            <a:ext cx="3843672" cy="40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Peak 58.0 % at depth = 20  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degrades after</a:t>
            </a: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E3572E29-A433-3153-5981-9823EAF0129D}"/>
              </a:ext>
            </a:extLst>
          </p:cNvPr>
          <p:cNvSpPr/>
          <p:nvPr/>
        </p:nvSpPr>
        <p:spPr>
          <a:xfrm>
            <a:off x="311739" y="5308593"/>
            <a:ext cx="11574285" cy="9354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   Take-away </a:t>
            </a:r>
            <a:endParaRPr lang="en-US" sz="2000">
              <a:solidFill>
                <a:srgbClr val="C5CDD8"/>
              </a:solidFill>
              <a:latin typeface="Arial"/>
              <a:ea typeface="Calibri"/>
              <a:cs typeface="Arial"/>
            </a:endParaRPr>
          </a:p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 1D best:  </a:t>
            </a:r>
            <a:r>
              <a:rPr lang="en-US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c = 1.0,  </a:t>
            </a:r>
            <a:r>
              <a:rPr lang="en-US" b="1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 = 200,  depth = 20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→   58.8 % vs Rule,  64.1 % vs Random (1000 games).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733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90E7-DF99-21DD-B250-8025D535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A224C33-59C6-ECC5-8C21-A5CCBF14C0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224C33-59C6-ECC5-8C21-A5CCBF14C0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8F7AA-8B8C-7A14-16D0-DB1E65AB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32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803ACE-C9BC-1AC0-4ED0-FD01093E6E53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en-US">
                <a:latin typeface="Arial"/>
                <a:ea typeface="Calibri"/>
                <a:cs typeface="Arial"/>
              </a:rPr>
              <a:t> Grid Search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pic>
        <p:nvPicPr>
          <p:cNvPr id="2" name="图片 1" descr="/sessions/dazzling-eager-gauss/mnt/uno_assignment5/experiments/results/mcts_grid_heatmap.png">
            <a:extLst>
              <a:ext uri="{FF2B5EF4-FFF2-40B4-BE49-F238E27FC236}">
                <a16:creationId xmlns:a16="http://schemas.microsoft.com/office/drawing/2014/main" id="{30B2D12E-DC92-F672-9A37-2E1BC39B13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0"/>
          <a:stretch>
            <a:fillRect/>
          </a:stretch>
        </p:blipFill>
        <p:spPr>
          <a:xfrm>
            <a:off x="277586" y="1384643"/>
            <a:ext cx="11631378" cy="3919763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5331FE6-8A3D-D466-9944-B11194E03D85}"/>
              </a:ext>
            </a:extLst>
          </p:cNvPr>
          <p:cNvSpPr/>
          <p:nvPr/>
        </p:nvSpPr>
        <p:spPr>
          <a:xfrm>
            <a:off x="650966" y="1003347"/>
            <a:ext cx="10162177" cy="209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One-at-a-time sweeps can't see how parameters interact; we run a 2-D grid to find out.</a:t>
            </a:r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B196D90F-3CDF-7AF1-4AEE-5F5A5A0E24FB}"/>
              </a:ext>
            </a:extLst>
          </p:cNvPr>
          <p:cNvSpPr/>
          <p:nvPr/>
        </p:nvSpPr>
        <p:spPr>
          <a:xfrm>
            <a:off x="290375" y="5441392"/>
            <a:ext cx="11624135" cy="9212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   </a:t>
            </a:r>
            <a:r>
              <a:rPr lang="en-US" sz="2000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Take-away </a:t>
            </a:r>
            <a:endParaRPr lang="en-US" sz="2000" b="1">
              <a:solidFill>
                <a:srgbClr val="C5CDD8"/>
              </a:solidFill>
              <a:latin typeface="Arial"/>
              <a:ea typeface="Calibri"/>
              <a:cs typeface="Arial"/>
            </a:endParaRPr>
          </a:p>
          <a:p>
            <a:r>
              <a:rPr lang="en-US">
                <a:solidFill>
                  <a:srgbClr val="C5CDD8"/>
                </a:solidFill>
                <a:latin typeface="Arial"/>
                <a:ea typeface="Calibri"/>
                <a:cs typeface="Arial"/>
              </a:rPr>
              <a:t>   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2D best: </a:t>
            </a:r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 c = 2.0,  </a:t>
            </a:r>
            <a:r>
              <a:rPr lang="en-US" b="1" err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 = 200,  depth = 30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 →   59.8 % vs Rule,  63.3 % vs Random (1000 games).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208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35AA-C1B6-415C-6CE8-D60F959D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8E37DE9-DE68-DE03-5596-66218E5EFE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E37DE9-DE68-DE03-5596-66218E5EF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EBD42-090C-2559-D002-A3A1DEAA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33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F84D7E-C1D8-4379-978E-BE015067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723" y="1856082"/>
            <a:ext cx="9414450" cy="3146935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Analysis &amp; Takeaways</a:t>
            </a:r>
          </a:p>
        </p:txBody>
      </p:sp>
      <p:pic>
        <p:nvPicPr>
          <p:cNvPr id="6" name="Picture 5" descr="Number Cards | Uno Wiki | Fandom">
            <a:extLst>
              <a:ext uri="{FF2B5EF4-FFF2-40B4-BE49-F238E27FC236}">
                <a16:creationId xmlns:a16="http://schemas.microsoft.com/office/drawing/2014/main" id="{D042B9E8-39A7-9EB1-6897-B3B418206E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4267" y="1852613"/>
            <a:ext cx="2066925" cy="3152775"/>
          </a:xfrm>
          <a:prstGeom prst="rect">
            <a:avLst/>
          </a:prstGeom>
        </p:spPr>
      </p:pic>
      <p:pic>
        <p:nvPicPr>
          <p:cNvPr id="3" name="Picture 10" descr="Number Cards | Uno Wiki | Fandom">
            <a:extLst>
              <a:ext uri="{FF2B5EF4-FFF2-40B4-BE49-F238E27FC236}">
                <a16:creationId xmlns:a16="http://schemas.microsoft.com/office/drawing/2014/main" id="{8FA346BE-C059-837A-2657-ADB905E0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08" y="1860781"/>
            <a:ext cx="2062148" cy="313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962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177A7DD-90DD-BBD0-B5BF-8AD95B17D6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808041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77A7DD-90DD-BBD0-B5BF-8AD95B17D6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D61D55-5C51-A6D3-58B5-414CC4302AE9}"/>
              </a:ext>
            </a:extLst>
          </p:cNvPr>
          <p:cNvSpPr txBox="1"/>
          <p:nvPr/>
        </p:nvSpPr>
        <p:spPr>
          <a:xfrm>
            <a:off x="444059" y="1102092"/>
            <a:ext cx="667058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We evaluate agents across three dimensions : </a:t>
            </a:r>
            <a:endParaRPr lang="en-US" sz="1400">
              <a:solidFill>
                <a:schemeClr val="bg1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C10DD9-40D8-CAD7-64BF-C3B48061549F}"/>
              </a:ext>
            </a:extLst>
          </p:cNvPr>
          <p:cNvSpPr/>
          <p:nvPr/>
        </p:nvSpPr>
        <p:spPr>
          <a:xfrm>
            <a:off x="588481" y="1611185"/>
            <a:ext cx="3357054" cy="10210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0435E-555B-299C-DEE3-9F7A22D65D94}"/>
              </a:ext>
            </a:extLst>
          </p:cNvPr>
          <p:cNvSpPr txBox="1"/>
          <p:nvPr/>
        </p:nvSpPr>
        <p:spPr>
          <a:xfrm>
            <a:off x="588481" y="2022665"/>
            <a:ext cx="33570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 Rate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C50DC7-C4D6-884C-38F2-E26606F5C3EC}"/>
              </a:ext>
            </a:extLst>
          </p:cNvPr>
          <p:cNvSpPr/>
          <p:nvPr/>
        </p:nvSpPr>
        <p:spPr>
          <a:xfrm>
            <a:off x="4244433" y="1633289"/>
            <a:ext cx="3336460" cy="102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6805B4-5921-D880-0502-D23F5889CBCA}"/>
              </a:ext>
            </a:extLst>
          </p:cNvPr>
          <p:cNvSpPr/>
          <p:nvPr/>
        </p:nvSpPr>
        <p:spPr>
          <a:xfrm>
            <a:off x="7874437" y="1619559"/>
            <a:ext cx="3398244" cy="10210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9324CE-524A-1B61-4DE9-895DD8A56BC4}"/>
              </a:ext>
            </a:extLst>
          </p:cNvPr>
          <p:cNvSpPr txBox="1"/>
          <p:nvPr/>
        </p:nvSpPr>
        <p:spPr>
          <a:xfrm>
            <a:off x="565621" y="1618805"/>
            <a:ext cx="34005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1 - Performance</a:t>
            </a:r>
            <a:endParaRPr lang="en-US" sz="14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C4E6B-18B8-FD89-6040-4FD6A846D619}"/>
              </a:ext>
            </a:extLst>
          </p:cNvPr>
          <p:cNvSpPr txBox="1"/>
          <p:nvPr/>
        </p:nvSpPr>
        <p:spPr>
          <a:xfrm>
            <a:off x="4281023" y="2014357"/>
            <a:ext cx="33364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Surviving Rounds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4C59C-0F97-D873-E476-4D7200D838A5}"/>
              </a:ext>
            </a:extLst>
          </p:cNvPr>
          <p:cNvSpPr txBox="1"/>
          <p:nvPr/>
        </p:nvSpPr>
        <p:spPr>
          <a:xfrm>
            <a:off x="4258163" y="1633288"/>
            <a:ext cx="33730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2 - Efficiency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9B87FB-0B08-2693-E386-289708857F45}"/>
              </a:ext>
            </a:extLst>
          </p:cNvPr>
          <p:cNvSpPr txBox="1"/>
          <p:nvPr/>
        </p:nvSpPr>
        <p:spPr>
          <a:xfrm>
            <a:off x="7874436" y="1979277"/>
            <a:ext cx="33982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First-Mover Advantage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896BD4-A4FD-B54E-33C8-F7CB81FEC635}"/>
              </a:ext>
            </a:extLst>
          </p:cNvPr>
          <p:cNvSpPr txBox="1"/>
          <p:nvPr/>
        </p:nvSpPr>
        <p:spPr>
          <a:xfrm>
            <a:off x="7851576" y="1627178"/>
            <a:ext cx="343483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3 - Fairness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5ED5F5-03A1-6829-213C-71060F87EEA1}"/>
              </a:ext>
            </a:extLst>
          </p:cNvPr>
          <p:cNvSpPr/>
          <p:nvPr/>
        </p:nvSpPr>
        <p:spPr>
          <a:xfrm>
            <a:off x="594522" y="2875349"/>
            <a:ext cx="10635528" cy="6248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39B9A3-4196-7A79-5BD9-86A02D26873C}"/>
              </a:ext>
            </a:extLst>
          </p:cNvPr>
          <p:cNvCxnSpPr/>
          <p:nvPr/>
        </p:nvCxnSpPr>
        <p:spPr>
          <a:xfrm>
            <a:off x="625002" y="2776289"/>
            <a:ext cx="10605804" cy="4421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7B96F2-B5CF-8A67-D960-2C41DACBB4DA}"/>
              </a:ext>
            </a:extLst>
          </p:cNvPr>
          <p:cNvSpPr txBox="1"/>
          <p:nvPr/>
        </p:nvSpPr>
        <p:spPr>
          <a:xfrm>
            <a:off x="617382" y="2850222"/>
            <a:ext cx="10604223" cy="6470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</a:rPr>
              <a:t>Proof of reliability 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b="1">
                <a:latin typeface="Arial"/>
                <a:cs typeface="Arial"/>
              </a:rPr>
              <a:t>Evaluation Framework</a:t>
            </a:r>
            <a:endParaRPr lang="en-US" b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EF9720-6E4E-DDC1-0B70-65117A18D537}"/>
              </a:ext>
            </a:extLst>
          </p:cNvPr>
          <p:cNvSpPr/>
          <p:nvPr/>
        </p:nvSpPr>
        <p:spPr>
          <a:xfrm>
            <a:off x="651706" y="3629729"/>
            <a:ext cx="3302205" cy="270091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0979DE-AD7F-0500-139E-DBAAB030B719}"/>
              </a:ext>
            </a:extLst>
          </p:cNvPr>
          <p:cNvSpPr/>
          <p:nvPr/>
        </p:nvSpPr>
        <p:spPr>
          <a:xfrm>
            <a:off x="7927089" y="3609134"/>
            <a:ext cx="3322799" cy="271464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1CD120-4BAE-09E2-BF28-9C39E2B5621F}"/>
              </a:ext>
            </a:extLst>
          </p:cNvPr>
          <p:cNvSpPr txBox="1"/>
          <p:nvPr/>
        </p:nvSpPr>
        <p:spPr>
          <a:xfrm>
            <a:off x="672301" y="3759269"/>
            <a:ext cx="3289231" cy="256480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baseline="0">
                <a:latin typeface="Arial"/>
                <a:ea typeface="Segoe UI"/>
                <a:cs typeface="Segoe UI"/>
              </a:rPr>
              <a:t>ISMCTS as </a:t>
            </a:r>
            <a:r>
              <a:rPr lang="en-US" sz="1600" b="1">
                <a:latin typeface="Arial"/>
                <a:ea typeface="Segoe UI"/>
                <a:cs typeface="Segoe UI"/>
              </a:rPr>
              <a:t>the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b="1" baseline="0">
                <a:latin typeface="Arial"/>
                <a:ea typeface="Segoe UI"/>
                <a:cs typeface="Segoe UI"/>
              </a:rPr>
              <a:t>Near-GTO Baseline</a:t>
            </a:r>
            <a:r>
              <a:rPr lang="en-US" sz="1600">
                <a:latin typeface="Arial"/>
                <a:ea typeface="Segoe UI"/>
                <a:cs typeface="Segoe UI"/>
              </a:rPr>
              <a:t>​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600">
              <a:latin typeface="Segoe UI"/>
              <a:ea typeface="Arial"/>
              <a:cs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Courier New"/>
              <a:buChar char="o"/>
            </a:pPr>
            <a:r>
              <a:rPr lang="en-US" sz="1400">
                <a:latin typeface="Arial"/>
                <a:ea typeface="Calibri"/>
                <a:cs typeface="Arial"/>
              </a:rPr>
              <a:t>All agents compared against ISMCTS 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Courier New"/>
              <a:buChar char="o"/>
            </a:pPr>
            <a:r>
              <a:rPr lang="en-US" sz="1400">
                <a:latin typeface="Arial"/>
                <a:ea typeface="Calibri"/>
                <a:cs typeface="Arial"/>
              </a:rPr>
              <a:t>ISMCTS simulates thousands of future game states per turn, serving as the closest approximation to a GTO strategy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3C13E5C-D492-47EE-3CEE-8A9B9CC9ED8A}"/>
              </a:ext>
            </a:extLst>
          </p:cNvPr>
          <p:cNvSpPr/>
          <p:nvPr/>
        </p:nvSpPr>
        <p:spPr>
          <a:xfrm>
            <a:off x="4248877" y="3626711"/>
            <a:ext cx="3398315" cy="270091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576831-B8FD-FC9D-AD40-F216905B0A55}"/>
              </a:ext>
            </a:extLst>
          </p:cNvPr>
          <p:cNvSpPr txBox="1"/>
          <p:nvPr/>
        </p:nvSpPr>
        <p:spPr>
          <a:xfrm>
            <a:off x="4178123" y="3772999"/>
            <a:ext cx="3668170" cy="1969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  <a:cs typeface="Segoe UI"/>
              </a:rPr>
              <a:t>Statistical Significance Testing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200">
                <a:latin typeface="Arial"/>
                <a:cs typeface="Arial"/>
              </a:rPr>
              <a:t>p-value &amp; confidence interval</a:t>
            </a:r>
            <a:endParaRPr lang="en-US" sz="1200">
              <a:latin typeface="Arial"/>
              <a:ea typeface="Calibri" panose="020F0502020204030204"/>
              <a:cs typeface="Arial"/>
            </a:endParaRPr>
          </a:p>
          <a:p>
            <a:endParaRPr lang="en-US" sz="12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Win/loss → Binomial test; 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Surviving rounds → Mann-Whitney U test 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1200"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CD76F1-3ED0-B2C3-35F0-4D63B906301F}"/>
              </a:ext>
            </a:extLst>
          </p:cNvPr>
          <p:cNvSpPr txBox="1"/>
          <p:nvPr/>
        </p:nvSpPr>
        <p:spPr>
          <a:xfrm>
            <a:off x="7895854" y="3724945"/>
            <a:ext cx="3510279" cy="279050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  <a:cs typeface="Segoe UI"/>
              </a:rPr>
              <a:t>10,000 games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b="1">
                <a:latin typeface="Arial"/>
                <a:cs typeface="Segoe UI"/>
              </a:rPr>
              <a:t>per matchup 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 sz="14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95% confidence interval narrows to ±1%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Reliably detect small but real differences in agent performance </a:t>
            </a:r>
            <a:endParaRPr lang="en-US"/>
          </a:p>
          <a:p>
            <a:pPr marL="285750" indent="-285750">
              <a:buFont typeface="Courier New,monospace"/>
              <a:buChar char="o"/>
            </a:pPr>
            <a:endParaRPr lang="en-US"/>
          </a:p>
          <a:p>
            <a:endParaRPr lang="en-US" sz="12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1200">
              <a:latin typeface="Arial"/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41B74C-0BD2-E159-4A96-EDC1EA941AA9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Arial"/>
                <a:cs typeface="Arial"/>
              </a:rPr>
              <a:t>Analysis Logic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755CD547-2036-1E86-7493-AB13421082A2}"/>
              </a:ext>
            </a:extLst>
          </p:cNvPr>
          <p:cNvSpPr txBox="1">
            <a:spLocks/>
          </p:cNvSpPr>
          <p:nvPr/>
        </p:nvSpPr>
        <p:spPr>
          <a:xfrm>
            <a:off x="915924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ID4096"/>
            </a:defPPr>
            <a:lvl1pPr marL="0" algn="r" defTabSz="914377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355AA7-6DE6-42D3-A944-E991047A9CD9}" type="slidenum">
              <a:rPr lang="LID4096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295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B3B56B2-5556-2C61-2C6E-12D13AC0A6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402884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3B56B2-5556-2C61-2C6E-12D13AC0A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5020ED-0454-FFE2-5318-9E32FADD7FE5}"/>
              </a:ext>
            </a:extLst>
          </p:cNvPr>
          <p:cNvSpPr txBox="1"/>
          <p:nvPr/>
        </p:nvSpPr>
        <p:spPr>
          <a:xfrm>
            <a:off x="469330" y="1171376"/>
            <a:ext cx="11176507" cy="12388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chemeClr val="accent6"/>
                </a:solidFill>
                <a:latin typeface="Arial"/>
                <a:cs typeface="Arial"/>
              </a:rPr>
              <a:t>ISMCTS significantly outperforming all others</a:t>
            </a:r>
            <a:r>
              <a:rPr lang="en-US">
                <a:solidFill>
                  <a:schemeClr val="accent6"/>
                </a:solidFill>
                <a:latin typeface="Arial"/>
                <a:cs typeface="Arial"/>
              </a:rPr>
              <a:t>.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 No evidence of cyclic dominance is observed; instead, the agents exhibit </a:t>
            </a:r>
            <a:r>
              <a:rPr lang="en-US" b="1">
                <a:solidFill>
                  <a:srgbClr val="FFC000"/>
                </a:solidFill>
                <a:latin typeface="Arial"/>
                <a:cs typeface="Arial"/>
              </a:rPr>
              <a:t>a stable linear ranking: ISMCTS &gt; Rule &gt; RL &gt; Random.</a:t>
            </a:r>
            <a:endParaRPr lang="en-US" b="1">
              <a:solidFill>
                <a:srgbClr val="FFC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ISMCTS achieves the highest win rate (~62.8%), followed by Rule (~50.9%), while RL (~44.1%)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    and Random (~42.2%)  perform below the baseline.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E673C-AE89-6AB4-435B-69084D557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2205"/>
              </p:ext>
            </p:extLst>
          </p:nvPr>
        </p:nvGraphicFramePr>
        <p:xfrm>
          <a:off x="8594810" y="2745945"/>
          <a:ext cx="3062963" cy="3778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39304">
                  <a:extLst>
                    <a:ext uri="{9D8B030D-6E8A-4147-A177-3AD203B41FA5}">
                      <a16:colId xmlns:a16="http://schemas.microsoft.com/office/drawing/2014/main" val="3472346767"/>
                    </a:ext>
                  </a:extLst>
                </a:gridCol>
                <a:gridCol w="1002826">
                  <a:extLst>
                    <a:ext uri="{9D8B030D-6E8A-4147-A177-3AD203B41FA5}">
                      <a16:colId xmlns:a16="http://schemas.microsoft.com/office/drawing/2014/main" val="3122150714"/>
                    </a:ext>
                  </a:extLst>
                </a:gridCol>
                <a:gridCol w="1220833">
                  <a:extLst>
                    <a:ext uri="{9D8B030D-6E8A-4147-A177-3AD203B41FA5}">
                      <a16:colId xmlns:a16="http://schemas.microsoft.com/office/drawing/2014/main" val="2212802503"/>
                    </a:ext>
                  </a:extLst>
                </a:gridCol>
              </a:tblGrid>
              <a:tr h="999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TotalWins</a:t>
                      </a:r>
                      <a:endParaRPr lang="en-US" sz="1400" err="1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TotalGames</a:t>
                      </a:r>
                      <a:endParaRPr lang="en-US" sz="1400" err="1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393717"/>
                  </a:ext>
                </a:extLst>
              </a:tr>
              <a:tr h="926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ISMCTS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18,834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23380"/>
                  </a:ext>
                </a:extLst>
              </a:tr>
              <a:tr h="573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Rule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15,256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75991"/>
                  </a:ext>
                </a:extLst>
              </a:tr>
              <a:tr h="7058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RL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13,240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48386"/>
                  </a:ext>
                </a:extLst>
              </a:tr>
              <a:tr h="57346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Random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12,670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5581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37EF85B-11CD-91C0-DE4C-24EDF848F1F8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>
                <a:latin typeface="Arial"/>
                <a:cs typeface="Arial"/>
              </a:rPr>
              <a:t>Overall Agent Ranking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2" name="Picture 1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EC3D719-8BBA-45DC-9E5E-461E60D6B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47" y="2736021"/>
            <a:ext cx="7631045" cy="38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3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7C3B-0CB2-662C-6EA9-B2C468FF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D53BF18-00CA-08EB-CF65-5FA5D793F9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087360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53BF18-00CA-08EB-CF65-5FA5D793F9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3A45F-6790-FD12-11FF-74F70AD2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36</a:t>
            </a:fld>
            <a:endParaRPr lang="en-GB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2C8A9764-BD9B-F9B6-5EEC-35F8F7CD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8" y="2775070"/>
            <a:ext cx="10271125" cy="39510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6713D8-5D11-2223-4DF0-4B13BCE4FE78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>
                <a:latin typeface="Arial"/>
                <a:cs typeface="Arial"/>
              </a:rPr>
              <a:t>ISMCTS VS Other Agents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AC5EE-0F36-CE9A-3C79-CBCD68B62982}"/>
              </a:ext>
            </a:extLst>
          </p:cNvPr>
          <p:cNvSpPr txBox="1"/>
          <p:nvPr/>
        </p:nvSpPr>
        <p:spPr>
          <a:xfrm>
            <a:off x="547687" y="1023937"/>
            <a:ext cx="1151731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ISMCTS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consistently outperforms all agents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.</a:t>
            </a:r>
            <a:endParaRPr lang="en-US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It shows a clear advantage over Random and RL (~65%), while the margin against the rule-based agent is smaller (~58–60%), indicating that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rule-based strategies partially approximate optimal play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Opponent survival rounds are similar across agents, with only minor differences, suggesting that </a:t>
            </a:r>
            <a:r>
              <a:rPr lang="en-US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performance differences are primarily reflected in win rates rather than game duration.</a:t>
            </a:r>
          </a:p>
        </p:txBody>
      </p:sp>
    </p:spTree>
    <p:extLst>
      <p:ext uri="{BB962C8B-B14F-4D97-AF65-F5344CB8AC3E}">
        <p14:creationId xmlns:p14="http://schemas.microsoft.com/office/powerpoint/2010/main" val="3283387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ADC0-C01B-A5C8-8B1A-4871837E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77D95A7-2F19-09AA-95A6-94A7AA785A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820369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D95A7-2F19-09AA-95A6-94A7AA785A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B5BBD-DE77-95BA-CBB5-0C4275F3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37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B7452A-6C9E-09C5-6FC5-288AA5DEAC76}"/>
              </a:ext>
            </a:extLst>
          </p:cNvPr>
          <p:cNvSpPr txBox="1">
            <a:spLocks/>
          </p:cNvSpPr>
          <p:nvPr/>
        </p:nvSpPr>
        <p:spPr>
          <a:xfrm>
            <a:off x="2182815" y="159522"/>
            <a:ext cx="842028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200" b="1">
                <a:solidFill>
                  <a:srgbClr val="FF0000"/>
                </a:solidFill>
                <a:latin typeface="Arial"/>
                <a:cs typeface="Arial"/>
              </a:rPr>
              <a:t>Statistical testing confirms that ISMCTS shows statistically significant gains over all other agents. 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248F5-9B44-819E-462A-25AC56240D04}"/>
              </a:ext>
            </a:extLst>
          </p:cNvPr>
          <p:cNvSpPr/>
          <p:nvPr/>
        </p:nvSpPr>
        <p:spPr>
          <a:xfrm>
            <a:off x="458477" y="160337"/>
            <a:ext cx="2156778" cy="1013143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CEB47-6771-943D-73AB-C0F14F309408}"/>
              </a:ext>
            </a:extLst>
          </p:cNvPr>
          <p:cNvSpPr txBox="1"/>
          <p:nvPr/>
        </p:nvSpPr>
        <p:spPr>
          <a:xfrm>
            <a:off x="458478" y="603568"/>
            <a:ext cx="21567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 Rate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04E7E-EAAF-09C9-CF31-9DA615107946}"/>
              </a:ext>
            </a:extLst>
          </p:cNvPr>
          <p:cNvSpPr txBox="1"/>
          <p:nvPr/>
        </p:nvSpPr>
        <p:spPr>
          <a:xfrm>
            <a:off x="451492" y="160020"/>
            <a:ext cx="21637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1 - Performance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pic>
        <p:nvPicPr>
          <p:cNvPr id="16" name="Picture 15" descr="A graph of a graph with red and grey bars&#10;&#10;AI-generated content may be incorrect.">
            <a:extLst>
              <a:ext uri="{FF2B5EF4-FFF2-40B4-BE49-F238E27FC236}">
                <a16:creationId xmlns:a16="http://schemas.microsoft.com/office/drawing/2014/main" id="{A11841FA-06A1-7E87-29D0-01FFC9719F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" t="191" r="80" b="-191"/>
          <a:stretch>
            <a:fillRect/>
          </a:stretch>
        </p:blipFill>
        <p:spPr>
          <a:xfrm>
            <a:off x="1238256" y="2654302"/>
            <a:ext cx="9715489" cy="4057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A40A45-A727-F624-8BE7-AD6965CAEE61}"/>
              </a:ext>
            </a:extLst>
          </p:cNvPr>
          <p:cNvSpPr txBox="1"/>
          <p:nvPr/>
        </p:nvSpPr>
        <p:spPr>
          <a:xfrm>
            <a:off x="452438" y="1285877"/>
            <a:ext cx="1154112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42925" indent="-27146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GB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RL exhibits</a:t>
            </a:r>
            <a:r>
              <a:rPr lang="en-GB" b="1" baseline="0">
                <a:solidFill>
                  <a:srgbClr val="FFC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GB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consistent underperformance</a:t>
            </a:r>
            <a:r>
              <a:rPr lang="en-GB">
                <a:solidFill>
                  <a:schemeClr val="bg1"/>
                </a:solidFill>
                <a:latin typeface="Arial"/>
                <a:ea typeface="+mn-lt"/>
                <a:cs typeface="Segoe UI"/>
              </a:rPr>
              <a:t>,</a:t>
            </a:r>
            <a:r>
              <a:rPr lang="en-GB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 confirming that its</a:t>
            </a:r>
            <a:r>
              <a:rPr lang="en-GB" baseline="0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 </a:t>
            </a:r>
            <a:r>
              <a:rPr lang="en-GB" b="1" baseline="0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lower win rates reflect genuinely weaker policies rather than random variation.</a:t>
            </a:r>
            <a:r>
              <a:rPr lang="en-GB" b="1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​</a:t>
            </a:r>
            <a:endParaRPr lang="en-US" b="1">
              <a:solidFill>
                <a:srgbClr val="FFC000"/>
              </a:solidFill>
              <a:ea typeface="Calibri"/>
              <a:cs typeface="Calibri"/>
            </a:endParaRPr>
          </a:p>
          <a:p>
            <a:pPr marL="542925" indent="-27146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GB" b="1" baseline="0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Rule </a:t>
            </a:r>
            <a:r>
              <a:rPr lang="en-GB" b="1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outperforms</a:t>
            </a:r>
            <a:r>
              <a:rPr lang="en-GB" b="1" baseline="0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 Random</a:t>
            </a:r>
            <a:r>
              <a:rPr lang="en-GB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, indicating that</a:t>
            </a:r>
            <a:r>
              <a:rPr lang="en-GB" b="1">
                <a:solidFill>
                  <a:schemeClr val="accent6"/>
                </a:solidFill>
                <a:latin typeface="Arial"/>
                <a:cs typeface="Segoe UI"/>
              </a:rPr>
              <a:t> Rule-based heuristics provide a reliable improvement over uninformed play.</a:t>
            </a:r>
          </a:p>
          <a:p>
            <a:pPr marL="542925" indent="-271463" algn="ctr">
              <a:spcBef>
                <a:spcPts val="300"/>
              </a:spcBef>
              <a:spcAft>
                <a:spcPts val="300"/>
              </a:spcAft>
            </a:pPr>
            <a:endParaRPr lang="en-US" b="1">
              <a:solidFill>
                <a:schemeClr val="accent6"/>
              </a:solidFill>
              <a:latin typeface="Arial"/>
              <a:cs typeface="Segoe UI"/>
            </a:endParaRP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932D78D-AC44-E1C3-F71E-FF6C1F6639FE}"/>
              </a:ext>
            </a:extLst>
          </p:cNvPr>
          <p:cNvSpPr/>
          <p:nvPr/>
        </p:nvSpPr>
        <p:spPr>
          <a:xfrm>
            <a:off x="7634653" y="4220308"/>
            <a:ext cx="337038" cy="307730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FBB4B350-3930-DE48-4824-AA90CABE58A7}"/>
              </a:ext>
            </a:extLst>
          </p:cNvPr>
          <p:cNvSpPr/>
          <p:nvPr/>
        </p:nvSpPr>
        <p:spPr>
          <a:xfrm>
            <a:off x="9539653" y="4879731"/>
            <a:ext cx="337038" cy="307730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1D59074-8812-4C0A-4CDF-EF7B5537338D}"/>
              </a:ext>
            </a:extLst>
          </p:cNvPr>
          <p:cNvSpPr/>
          <p:nvPr/>
        </p:nvSpPr>
        <p:spPr>
          <a:xfrm>
            <a:off x="5128845" y="3795346"/>
            <a:ext cx="337038" cy="307730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4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8922-4AED-9F7F-2D02-67CB389B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55F5241-932F-D01E-1D5D-DCEA9309B6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181276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5F5241-932F-D01E-1D5D-DCEA9309B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31C43-7F22-D34C-A59E-F4A0FCB3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38</a:t>
            </a:fld>
            <a:endParaRPr lang="en-GB"/>
          </a:p>
        </p:txBody>
      </p:sp>
      <p:pic>
        <p:nvPicPr>
          <p:cNvPr id="3" name="Picture 2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C077C68D-F209-BF6D-CD64-1FE0AABE0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3079750"/>
            <a:ext cx="8802687" cy="3667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FAB4FD-D67D-694C-63E8-87A3D064BBF9}"/>
              </a:ext>
            </a:extLst>
          </p:cNvPr>
          <p:cNvSpPr txBox="1"/>
          <p:nvPr/>
        </p:nvSpPr>
        <p:spPr>
          <a:xfrm>
            <a:off x="3760794" y="2027871"/>
            <a:ext cx="21488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712249-1BCA-E303-F7CF-17519CD93EAF}"/>
              </a:ext>
            </a:extLst>
          </p:cNvPr>
          <p:cNvSpPr/>
          <p:nvPr/>
        </p:nvSpPr>
        <p:spPr>
          <a:xfrm>
            <a:off x="458477" y="160337"/>
            <a:ext cx="2148840" cy="10131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6343F-1508-AAAB-8CBD-766D6D6C74FF}"/>
              </a:ext>
            </a:extLst>
          </p:cNvPr>
          <p:cNvSpPr txBox="1"/>
          <p:nvPr/>
        </p:nvSpPr>
        <p:spPr>
          <a:xfrm>
            <a:off x="465468" y="440304"/>
            <a:ext cx="212786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Surviving 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Rounds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2FC88-45AA-EF46-CBCF-CAD751D0FF88}"/>
              </a:ext>
            </a:extLst>
          </p:cNvPr>
          <p:cNvSpPr txBox="1"/>
          <p:nvPr/>
        </p:nvSpPr>
        <p:spPr>
          <a:xfrm>
            <a:off x="451492" y="160020"/>
            <a:ext cx="2155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2 - Efficiency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BECEE-CA36-3432-5AA4-E11F0E18CC8B}"/>
              </a:ext>
            </a:extLst>
          </p:cNvPr>
          <p:cNvSpPr txBox="1"/>
          <p:nvPr/>
        </p:nvSpPr>
        <p:spPr>
          <a:xfrm>
            <a:off x="317500" y="1531937"/>
            <a:ext cx="1155700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Rule-based and RL agents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show significantly longer opponent survival times (~29 rounds vs ~23 for ISMCTS), suggesting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weaker control over game progression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.</a:t>
            </a:r>
            <a:endParaRPr lang="en-US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All pairwise differences are statistically significant (p &lt; 0.05), confirming that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survival rounds reliably reflect performance differences rather than random variation.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F733558-B0F3-2FF2-DAD5-3823469B3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25043"/>
              </p:ext>
            </p:extLst>
          </p:nvPr>
        </p:nvGraphicFramePr>
        <p:xfrm>
          <a:off x="466725" y="3059112"/>
          <a:ext cx="2421568" cy="37382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6678">
                  <a:extLst>
                    <a:ext uri="{9D8B030D-6E8A-4147-A177-3AD203B41FA5}">
                      <a16:colId xmlns:a16="http://schemas.microsoft.com/office/drawing/2014/main" val="3090697470"/>
                    </a:ext>
                  </a:extLst>
                </a:gridCol>
                <a:gridCol w="823577">
                  <a:extLst>
                    <a:ext uri="{9D8B030D-6E8A-4147-A177-3AD203B41FA5}">
                      <a16:colId xmlns:a16="http://schemas.microsoft.com/office/drawing/2014/main" val="2852394060"/>
                    </a:ext>
                  </a:extLst>
                </a:gridCol>
                <a:gridCol w="591313">
                  <a:extLst>
                    <a:ext uri="{9D8B030D-6E8A-4147-A177-3AD203B41FA5}">
                      <a16:colId xmlns:a16="http://schemas.microsoft.com/office/drawing/2014/main" val="534513151"/>
                    </a:ext>
                  </a:extLst>
                </a:gridCol>
              </a:tblGrid>
              <a:tr h="75575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Matchup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Surv_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marR="0"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Avg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Surv_Std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705530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18.3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42631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Rule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17.6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509467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17.0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531475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Rule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29.4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24.2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960078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RL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29.5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935278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RL vs Rule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28.6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22.4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4175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E457948-B2F5-B991-155E-2F04D14AE417}"/>
              </a:ext>
            </a:extLst>
          </p:cNvPr>
          <p:cNvSpPr txBox="1"/>
          <p:nvPr/>
        </p:nvSpPr>
        <p:spPr>
          <a:xfrm>
            <a:off x="2698750" y="142875"/>
            <a:ext cx="7747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6"/>
                </a:solidFill>
                <a:latin typeface="Arial"/>
                <a:cs typeface="Arial"/>
              </a:rPr>
              <a:t>ISMCTS consistently achieves shorter opponent survival times, indicating faster, more decisive gameplay with statistically reliable advantages.</a:t>
            </a:r>
            <a:endParaRPr lang="en-US" sz="2200" b="1">
              <a:solidFill>
                <a:schemeClr val="accent6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522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4E20-5DAD-8B8B-5C02-D9F19E93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A4E18FE-9C10-EFD7-1A68-CBEC14A45D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7475503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4E18FE-9C10-EFD7-1A68-CBEC14A45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49FE12-E862-489A-FA92-E109A52D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EC161-D033-C54A-1BCE-9744384E4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88" y="2685520"/>
            <a:ext cx="7231063" cy="40269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341EB6-4458-C1D8-CBCA-46890ABAFBE2}"/>
              </a:ext>
            </a:extLst>
          </p:cNvPr>
          <p:cNvSpPr txBox="1"/>
          <p:nvPr/>
        </p:nvSpPr>
        <p:spPr>
          <a:xfrm>
            <a:off x="3760794" y="2027871"/>
            <a:ext cx="21488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DD2CAA6-743F-3B31-FDBC-FAB1210615E4}"/>
              </a:ext>
            </a:extLst>
          </p:cNvPr>
          <p:cNvSpPr/>
          <p:nvPr/>
        </p:nvSpPr>
        <p:spPr>
          <a:xfrm>
            <a:off x="458477" y="160337"/>
            <a:ext cx="2291715" cy="10687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CD3EE6-E21E-D9C4-596F-46F2DE552A87}"/>
              </a:ext>
            </a:extLst>
          </p:cNvPr>
          <p:cNvSpPr txBox="1"/>
          <p:nvPr/>
        </p:nvSpPr>
        <p:spPr>
          <a:xfrm>
            <a:off x="457531" y="479991"/>
            <a:ext cx="231043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First-Mover 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Advantage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43797D-EE27-5578-1920-6250B48D0126}"/>
              </a:ext>
            </a:extLst>
          </p:cNvPr>
          <p:cNvSpPr txBox="1"/>
          <p:nvPr/>
        </p:nvSpPr>
        <p:spPr>
          <a:xfrm>
            <a:off x="451492" y="160020"/>
            <a:ext cx="214788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3 - Fairness</a:t>
            </a:r>
          </a:p>
          <a:p>
            <a:pPr algn="ctr"/>
            <a:endParaRPr lang="en-US"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19A33E1-9FFD-2861-7E2B-6A9459676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43516"/>
              </p:ext>
            </p:extLst>
          </p:nvPr>
        </p:nvGraphicFramePr>
        <p:xfrm>
          <a:off x="460375" y="2682875"/>
          <a:ext cx="3695753" cy="40261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076962337"/>
                    </a:ext>
                  </a:extLst>
                </a:gridCol>
                <a:gridCol w="2171754">
                  <a:extLst>
                    <a:ext uri="{9D8B030D-6E8A-4147-A177-3AD203B41FA5}">
                      <a16:colId xmlns:a16="http://schemas.microsoft.com/office/drawing/2014/main" val="1810950081"/>
                    </a:ext>
                  </a:extLst>
                </a:gridCol>
              </a:tblGrid>
              <a:tr h="995051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Agent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Advantage=</a:t>
                      </a:r>
                      <a:endParaRPr lang="ja-JP" altLang="en-US" sz="1400" b="1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lvl="0" algn="ctr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P0 win rate – P1 win rate</a:t>
                      </a:r>
                      <a:endParaRPr lang="ja-JP" altLang="en-US" sz="1400" b="1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5081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Rule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1.2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812790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Random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2.1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44259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RL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2.4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11701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08CE98EC-1C8D-8B55-25C9-DB0607999D16}"/>
              </a:ext>
            </a:extLst>
          </p:cNvPr>
          <p:cNvSpPr txBox="1"/>
          <p:nvPr/>
        </p:nvSpPr>
        <p:spPr>
          <a:xfrm>
            <a:off x="2857500" y="158750"/>
            <a:ext cx="758825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All agents exhibit a statistically significant first-mover advantage, indicating a systematic bias favoring the starting player.</a:t>
            </a:r>
            <a:endParaRPr lang="en-US" sz="2200">
              <a:solidFill>
                <a:srgbClr val="00B0F0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2B7C72-C54D-DCAC-B331-081F75E44C55}"/>
              </a:ext>
            </a:extLst>
          </p:cNvPr>
          <p:cNvSpPr txBox="1"/>
          <p:nvPr/>
        </p:nvSpPr>
        <p:spPr>
          <a:xfrm>
            <a:off x="333375" y="1317625"/>
            <a:ext cx="11557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98475" indent="-22701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The magnitude of this advantage increases from Rule (1.2) to Random (2.1) and RL (2.4), suggesting that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weaker or less structured agents are more sensitive to turn order.</a:t>
            </a:r>
            <a:endParaRPr lang="en-US"/>
          </a:p>
          <a:p>
            <a:pPr marL="498475" indent="-22701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This implies that 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stronger strategies are more robust to positional bias, while weaker agents rely more heavily on first-move advantage to perform competitively.</a:t>
            </a:r>
          </a:p>
          <a:p>
            <a:pPr marL="498475" indent="-227013" algn="ctr">
              <a:spcBef>
                <a:spcPts val="300"/>
              </a:spcBef>
              <a:spcAft>
                <a:spcPts val="300"/>
              </a:spcAft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0643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0C7A-A983-8DBE-423F-EA3E8A2D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052478B-8EDC-A40F-ADF8-2DFAB09704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6981007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52478B-8EDC-A40F-ADF8-2DFAB0970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232BC5-2C8E-7D0C-5270-7677F93AACAF}"/>
              </a:ext>
            </a:extLst>
          </p:cNvPr>
          <p:cNvSpPr/>
          <p:nvPr/>
        </p:nvSpPr>
        <p:spPr>
          <a:xfrm>
            <a:off x="465431" y="1944729"/>
            <a:ext cx="11413404" cy="122594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F280EA-39FD-F700-7F34-CEF08F60EBAA}"/>
              </a:ext>
            </a:extLst>
          </p:cNvPr>
          <p:cNvCxnSpPr/>
          <p:nvPr/>
        </p:nvCxnSpPr>
        <p:spPr>
          <a:xfrm>
            <a:off x="517578" y="1811345"/>
            <a:ext cx="11477642" cy="9886"/>
          </a:xfrm>
          <a:prstGeom prst="straightConnector1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026B22-26D5-446C-F0B2-A454A2373618}"/>
              </a:ext>
            </a:extLst>
          </p:cNvPr>
          <p:cNvSpPr txBox="1"/>
          <p:nvPr/>
        </p:nvSpPr>
        <p:spPr>
          <a:xfrm>
            <a:off x="631166" y="2098367"/>
            <a:ext cx="11080476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ea typeface="Arial"/>
                <a:cs typeface="Arial"/>
              </a:rPr>
              <a:t> </a:t>
            </a:r>
            <a:r>
              <a:rPr lang="en-US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1.                   </a:t>
            </a:r>
            <a:r>
              <a:rPr lang="en-US" b="1">
                <a:latin typeface="Arial"/>
                <a:ea typeface="+mn-lt"/>
                <a:cs typeface="Arial"/>
              </a:rPr>
              <a:t>ISMCTS &gt; Rule &gt; RL &gt; Random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ISMCTS is the strongest agent</a:t>
            </a:r>
            <a:r>
              <a:rPr lang="en-US">
                <a:latin typeface="Arial"/>
                <a:ea typeface="+mn-lt"/>
                <a:cs typeface="Arial"/>
              </a:rPr>
              <a:t>, consistently outperforming others with statistically significant advantages over Random and RL, and  Rule.</a:t>
            </a:r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99C0804-452D-E701-8F6D-05E704EA91F4}"/>
              </a:ext>
            </a:extLst>
          </p:cNvPr>
          <p:cNvSpPr txBox="1"/>
          <p:nvPr/>
        </p:nvSpPr>
        <p:spPr>
          <a:xfrm>
            <a:off x="500063" y="1316556"/>
            <a:ext cx="11434139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LID4096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latin typeface="Arial"/>
                <a:ea typeface="+mn-lt"/>
                <a:cs typeface="Arial"/>
              </a:rPr>
              <a:t>Based on the results across performance, efficiency, and fairness, we can summarize the key findings as follows: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A6C04-11ED-AF11-69C6-B8056945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6817" y="5989084"/>
            <a:ext cx="4836983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40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5C082-DA51-9CD1-40E5-75C0B9E77308}"/>
              </a:ext>
            </a:extLst>
          </p:cNvPr>
          <p:cNvSpPr/>
          <p:nvPr/>
        </p:nvSpPr>
        <p:spPr>
          <a:xfrm>
            <a:off x="468650" y="3374769"/>
            <a:ext cx="11399672" cy="12534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721AF8-ACB5-01DB-CB32-E55B918CFC87}"/>
              </a:ext>
            </a:extLst>
          </p:cNvPr>
          <p:cNvSpPr/>
          <p:nvPr/>
        </p:nvSpPr>
        <p:spPr>
          <a:xfrm>
            <a:off x="409010" y="4812742"/>
            <a:ext cx="11365350" cy="130145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5EE9D-0885-0366-EB90-30CE90B8816D}"/>
              </a:ext>
            </a:extLst>
          </p:cNvPr>
          <p:cNvSpPr txBox="1"/>
          <p:nvPr/>
        </p:nvSpPr>
        <p:spPr>
          <a:xfrm>
            <a:off x="653236" y="3676563"/>
            <a:ext cx="111590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4"/>
                </a:solidFill>
                <a:latin typeface="Arial"/>
                <a:cs typeface="Arial"/>
              </a:rPr>
              <a:t>2. Performance differences are driven primarily by win rates rather than game duration,</a:t>
            </a:r>
            <a:r>
              <a:rPr lang="en-US">
                <a:solidFill>
                  <a:schemeClr val="accent4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with ISMCTS achieving faster and more decisive outcomes while maintaining similar survival variability.</a:t>
            </a:r>
            <a:endParaRPr lang="en-US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250F6-BEE9-A7E3-708D-357351F88BD3}"/>
              </a:ext>
            </a:extLst>
          </p:cNvPr>
          <p:cNvSpPr txBox="1"/>
          <p:nvPr/>
        </p:nvSpPr>
        <p:spPr>
          <a:xfrm>
            <a:off x="633714" y="5145647"/>
            <a:ext cx="11070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93D150"/>
                </a:solidFill>
                <a:latin typeface="Arial"/>
                <a:cs typeface="Arial"/>
              </a:rPr>
              <a:t>3. Game dynamics are not perfectly fair: a statistically significant first-move advantage exists for all agents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, with weaker strategies (Random, RL) being more sensitive to turn order than stronger ones.</a:t>
            </a:r>
            <a:endParaRPr lang="en-US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445761-CF24-9CC8-2E01-6343691F479B}"/>
              </a:ext>
            </a:extLst>
          </p:cNvPr>
          <p:cNvCxnSpPr>
            <a:cxnSpLocks/>
          </p:cNvCxnSpPr>
          <p:nvPr/>
        </p:nvCxnSpPr>
        <p:spPr>
          <a:xfrm flipV="1">
            <a:off x="510714" y="1750867"/>
            <a:ext cx="11367804" cy="31302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FDAB4397-E8BA-FA6A-D493-4869F8A85C74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Arial"/>
                <a:cs typeface="Arial"/>
              </a:rPr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576082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0A88-8166-C045-689F-020278D6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3" title="UNO SPEED CHALLENGE 💨😲 #uno #unogameplay #unocardgame #howtoplayuno">
            <a:hlinkClick r:id="" action="ppaction://media"/>
            <a:extLst>
              <a:ext uri="{FF2B5EF4-FFF2-40B4-BE49-F238E27FC236}">
                <a16:creationId xmlns:a16="http://schemas.microsoft.com/office/drawing/2014/main" id="{9D3F650D-2DDF-91C4-94DA-EF9C038C8C4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45423" y="207031"/>
            <a:ext cx="3645295" cy="6634120"/>
          </a:xfrm>
          <a:prstGeom prst="rect">
            <a:avLst/>
          </a:prstGeom>
        </p:spPr>
      </p:pic>
      <p:pic>
        <p:nvPicPr>
          <p:cNvPr id="10" name="Picture 9" descr="A robot playing cards&#10;&#10;AI-generated content may be incorrect.">
            <a:extLst>
              <a:ext uri="{FF2B5EF4-FFF2-40B4-BE49-F238E27FC236}">
                <a16:creationId xmlns:a16="http://schemas.microsoft.com/office/drawing/2014/main" id="{576C98F7-0E5D-0D64-7BF2-8C1495A473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7" b="32280"/>
          <a:stretch>
            <a:fillRect/>
          </a:stretch>
        </p:blipFill>
        <p:spPr>
          <a:xfrm>
            <a:off x="3942999" y="2708"/>
            <a:ext cx="3644754" cy="297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6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62A330-A27A-12B8-A248-912E3AE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82" y="457200"/>
            <a:ext cx="10099182" cy="618394"/>
          </a:xfrm>
        </p:spPr>
        <p:txBody>
          <a:bodyPr lIns="91440" tIns="45720" rIns="91440" bIns="45720" anchor="t"/>
          <a:lstStyle/>
          <a:p>
            <a:pPr algn="ctr"/>
            <a:r>
              <a:rPr lang="en-US" sz="4000"/>
              <a:t>Compete against our UNO agents!</a:t>
            </a:r>
            <a:endParaRPr lang="LID4096" sz="40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B0ACCA-7C52-FB04-C2CE-F46976000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770" y="1839213"/>
            <a:ext cx="4254825" cy="4246542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D8432A-A922-C046-AC18-BB8D1C365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0326" y="5768646"/>
            <a:ext cx="4468728" cy="98722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400"/>
          </a:p>
          <a:p>
            <a:r>
              <a:rPr lang="en-US" sz="1400">
                <a:latin typeface="Arial"/>
                <a:cs typeface="Arial"/>
              </a:rPr>
              <a:t>Or visit the link：</a:t>
            </a:r>
            <a:r>
              <a:rPr lang="en-US" sz="1400">
                <a:latin typeface="Arial"/>
                <a:cs typeface="Arial"/>
                <a:hlinkClick r:id="rId4"/>
              </a:rPr>
              <a:t>https://uno-matchup.streamlit.app/</a:t>
            </a:r>
            <a:r>
              <a:rPr lang="en-US" sz="1400">
                <a:latin typeface="Arial"/>
                <a:cs typeface="Arial"/>
              </a:rPr>
              <a:t> </a:t>
            </a:r>
            <a:endParaRPr lang="LID4096" sz="14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1B218-1360-3A9C-E713-66AB355B96AC}"/>
              </a:ext>
            </a:extLst>
          </p:cNvPr>
          <p:cNvSpPr txBox="1"/>
          <p:nvPr/>
        </p:nvSpPr>
        <p:spPr>
          <a:xfrm>
            <a:off x="3603572" y="1401354"/>
            <a:ext cx="3802992" cy="653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the QR-code!</a:t>
            </a:r>
            <a:endParaRPr lang="en-US" b="1"/>
          </a:p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58564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34A5-AF13-4441-CA76-BA3408CD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74" y="330380"/>
            <a:ext cx="10515600" cy="64073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>
                <a:latin typeface="Arial"/>
                <a:cs typeface="Arial"/>
              </a:rPr>
              <a:t>Limitations</a:t>
            </a:r>
            <a:endParaRPr lang="en-US" sz="2600" b="1">
              <a:latin typeface="Arial"/>
              <a:cs typeface="Arial"/>
            </a:endParaRP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current system only supports 2-player UNO, limiting multiplayer strategy complexity.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RL agent uses a relatively simple DQN architecture, which restricts long-term strategic learning.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ISMCTS agent achieves the best performance but requires significantly higher computation time.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Hidden information is approximated through sampling, so opponent </a:t>
            </a:r>
            <a:r>
              <a:rPr lang="en-GB" sz="2200" err="1">
                <a:latin typeface="Arial"/>
                <a:cs typeface="Arial"/>
              </a:rPr>
              <a:t>behavior</a:t>
            </a:r>
            <a:r>
              <a:rPr lang="en-GB" sz="2200">
                <a:latin typeface="Arial"/>
                <a:cs typeface="Arial"/>
              </a:rPr>
              <a:t> cannot be </a:t>
            </a:r>
            <a:r>
              <a:rPr lang="en-GB" sz="2200" err="1">
                <a:latin typeface="Arial"/>
                <a:cs typeface="Arial"/>
              </a:rPr>
              <a:t>modeled</a:t>
            </a:r>
            <a:r>
              <a:rPr lang="en-GB" sz="2200">
                <a:latin typeface="Arial"/>
                <a:cs typeface="Arial"/>
              </a:rPr>
              <a:t> perfectly.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Evaluation mainly focuses on win rates and average turns rather than broader strategic metrics.</a:t>
            </a:r>
          </a:p>
          <a:p>
            <a:pPr marL="227965" indent="-227965"/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b="1">
                <a:latin typeface="Arial"/>
                <a:cs typeface="Arial"/>
              </a:rPr>
              <a:t>Future Scope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Extend the environment to support full multiplayer UNO gameplay.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Improve the RL agent using advanced methods such as PPO, Double DQN, or Transformer-based models.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Combine ISMCTS with neural networks to create stronger hybrid agents.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Add opponent </a:t>
            </a:r>
            <a:r>
              <a:rPr lang="en-GB" sz="2200" err="1">
                <a:latin typeface="Arial"/>
                <a:cs typeface="Arial"/>
              </a:rPr>
              <a:t>modeling</a:t>
            </a:r>
            <a:r>
              <a:rPr lang="en-GB" sz="2200">
                <a:latin typeface="Arial"/>
                <a:cs typeface="Arial"/>
              </a:rPr>
              <a:t> so agents can adapt to different play styles.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Expand benchmarking with Elo ratings, statistical testing, and richer evaluation metrics.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0FF37-A615-1055-4066-8C2D0341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7413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D9B64C-E976-B7C5-1B2F-00B81C1868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975029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D9B64C-E976-B7C5-1B2F-00B81C186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2070D3E-4FB0-DDF7-AE32-FF6EB6E9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latin typeface="Arial"/>
                <a:ea typeface="Calibri"/>
                <a:cs typeface="Arial"/>
              </a:rPr>
              <a:t>References</a:t>
            </a:r>
            <a:endParaRPr lang="LID4096">
              <a:latin typeface="Arial"/>
              <a:ea typeface="Calibri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DA618-FA6C-1AF7-C032-035804412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27965" indent="-227965"/>
            <a:r>
              <a:rPr lang="en-US">
                <a:latin typeface="Arial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https://www.unorules.com/</a:t>
            </a:r>
            <a:endParaRPr lang="zh-CN" altLang="en-US">
              <a:latin typeface="Arial"/>
              <a:ea typeface="等线"/>
              <a:cs typeface="Arial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https://en.wikipedia.org/wiki/Uno_(card_game)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Winning UNO With Reinforcement Learning </a:t>
            </a:r>
            <a:br>
              <a:rPr lang="en-US"/>
            </a:br>
            <a:r>
              <a:rPr lang="LID4096">
                <a:latin typeface="Arial"/>
                <a:ea typeface="Calibri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https://web.stanford.edu/class/aa228/reports/2020/final79.pdf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Reinforcement learning compared to rule-based play in UNO</a:t>
            </a:r>
            <a:br>
              <a:rPr lang="en-US"/>
            </a:br>
            <a:r>
              <a:rPr lang="LID4096">
                <a:latin typeface="Arial"/>
                <a:ea typeface="Calibri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https://www.diva-portal.org/smash/record.jsf?pid=diva2%3A1955734&amp;dswid=-5242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</a:rPr>
              <a:t>The Complexity of UNO</a:t>
            </a:r>
            <a:br>
              <a:rPr lang="en-US">
                <a:ea typeface="Calibri"/>
              </a:rPr>
            </a:br>
            <a:r>
              <a:rPr lang="LID4096">
                <a:latin typeface="Arial"/>
                <a:ea typeface="Calibri"/>
                <a:cs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https://www.researchgate.net/publication/45906238_The_complexity_of_UNO</a:t>
            </a:r>
            <a:endParaRPr lang="en-US">
              <a:latin typeface="Arial"/>
              <a:ea typeface="Calibri"/>
              <a:cs typeface="Arial"/>
            </a:endParaRPr>
          </a:p>
          <a:p>
            <a:pPr marL="227965" indent="-227965"/>
            <a:r>
              <a:rPr lang="en-US">
                <a:ea typeface="Calibri"/>
              </a:rPr>
              <a:t>Cowling, P. I., Powley, E. J., &amp; Whitehouse, D. (2012). Information Set Monte Carlo Tree Search. IEEE Transactions on Computational Intelligence and AI in Games, 4(2), 120–143.</a:t>
            </a: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</a:rPr>
              <a:t>Kocsis, L., &amp; </a:t>
            </a:r>
            <a:r>
              <a:rPr lang="en-US" err="1">
                <a:latin typeface="Arial"/>
                <a:ea typeface="Calibri"/>
                <a:cs typeface="Arial"/>
              </a:rPr>
              <a:t>Szepesvári</a:t>
            </a:r>
            <a:r>
              <a:rPr lang="en-US">
                <a:latin typeface="Arial"/>
                <a:ea typeface="Calibri"/>
                <a:cs typeface="Arial"/>
              </a:rPr>
              <a:t>, C. (2006). Bandit Based Monte-Carlo Planning. ECML 2006, Lecture Notes in Computer Science, vol. 4212, pp. 282–293.</a:t>
            </a:r>
          </a:p>
          <a:p>
            <a:pPr marL="0" indent="0">
              <a:buNone/>
            </a:pPr>
            <a:endParaRPr lang="en-US">
              <a:ea typeface="Calibri"/>
            </a:endParaRPr>
          </a:p>
          <a:p>
            <a:pPr marL="227965" indent="-227965"/>
            <a:endParaRPr lang="en-US">
              <a:ea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BC72F4-D8A5-EAA4-DE87-170600E5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882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C45CF8-D3C7-5BB5-8F49-7E717873B8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C45CF8-D3C7-5BB5-8F49-7E717873B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06EF565-1DA5-E944-BA59-1F6727F5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vert="horz"/>
          <a:lstStyle/>
          <a:p>
            <a:r>
              <a:rPr lang="en-US"/>
              <a:t>Thank you for your attention!</a:t>
            </a:r>
            <a:endParaRPr lang="LID4096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71BFD68-2749-6E9C-E97B-E92DD0EB052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38200" y="2018037"/>
            <a:ext cx="8255000" cy="22936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/>
              <a:t>Now it’s </a:t>
            </a:r>
            <a:r>
              <a:rPr lang="en-US" sz="2800" i="1"/>
              <a:t>your</a:t>
            </a:r>
            <a:r>
              <a:rPr lang="en-US" sz="2800"/>
              <a:t> turn</a:t>
            </a:r>
          </a:p>
          <a:p>
            <a:pPr>
              <a:lnSpc>
                <a:spcPct val="150000"/>
              </a:lnSpc>
            </a:pPr>
            <a:r>
              <a:rPr lang="en-US"/>
              <a:t>Do you have any questions?</a:t>
            </a:r>
          </a:p>
          <a:p>
            <a:pPr>
              <a:lnSpc>
                <a:spcPct val="150000"/>
              </a:lnSpc>
            </a:pPr>
            <a:r>
              <a:rPr lang="en-US"/>
              <a:t>Feedback?</a:t>
            </a:r>
            <a:endParaRPr lang="LID4096"/>
          </a:p>
        </p:txBody>
      </p:sp>
      <p:pic>
        <p:nvPicPr>
          <p:cNvPr id="9" name="Picture 8" descr="Reverse Uno, Play Online, Fun Challenge, Competitive Play, Family Game PNG">
            <a:extLst>
              <a:ext uri="{FF2B5EF4-FFF2-40B4-BE49-F238E27FC236}">
                <a16:creationId xmlns:a16="http://schemas.microsoft.com/office/drawing/2014/main" id="{62C875E9-DC17-B4C6-0D2F-AFFC1AC574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879" t="28681" r="32563" b="29205"/>
          <a:stretch>
            <a:fillRect/>
          </a:stretch>
        </p:blipFill>
        <p:spPr>
          <a:xfrm>
            <a:off x="5472435" y="1122364"/>
            <a:ext cx="4798092" cy="58472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EAC75C-3ADF-5AB3-F873-8CDA6087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875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B72294D-75C8-A04F-ED85-4713FDD27F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376250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72294D-75C8-A04F-ED85-4713FDD27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25AB-1D74-E7B1-5821-BFE89ED0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Appendix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55AA7-7B19-AF8A-AC3F-AF78AF09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46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DAB6A5-C68B-FD02-DB48-2C7775080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59696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C905261-F24D-51BC-E3D3-597CE0FAA5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189337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905261-F24D-51BC-E3D3-597CE0FAA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19693C-416F-EA38-A154-4B2D2076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UNO® Gameplay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D035-9FA5-A1B6-A6DA-9695B8213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On your turn, </a:t>
            </a:r>
            <a:r>
              <a:rPr lang="en-US" u="sng"/>
              <a:t>you try to get rid of all your cards </a:t>
            </a:r>
            <a:r>
              <a:rPr lang="en-US"/>
              <a:t>by playing ONE CARD onto the Discard Pile.</a:t>
            </a:r>
          </a:p>
          <a:p>
            <a:r>
              <a:rPr lang="en-US"/>
              <a:t>If you HAVE a matching card, you may PLAY IT on the Discard Pile.</a:t>
            </a:r>
          </a:p>
          <a:p>
            <a:pPr lvl="1"/>
            <a:r>
              <a:rPr lang="en-US"/>
              <a:t>You can only play a card if it matches at least one attribute of the top card on the Discard Pile: it’s color, number, or symbol</a:t>
            </a:r>
          </a:p>
          <a:p>
            <a:pPr lvl="1"/>
            <a:r>
              <a:rPr lang="en-US"/>
              <a:t>If you played an action card it does something special (see next slide)</a:t>
            </a:r>
          </a:p>
          <a:p>
            <a:r>
              <a:rPr lang="en-US"/>
              <a:t>If you DO NOT HAVE a matching card, DRAW ONE CARD from the draw pile</a:t>
            </a:r>
          </a:p>
          <a:p>
            <a:pPr lvl="1"/>
            <a:r>
              <a:rPr lang="en-US"/>
              <a:t>If your </a:t>
            </a:r>
            <a:r>
              <a:rPr lang="en-US" i="1"/>
              <a:t>new </a:t>
            </a:r>
            <a:r>
              <a:rPr lang="en-US"/>
              <a:t>card can be played (see above), then you may play it now.</a:t>
            </a:r>
          </a:p>
          <a:p>
            <a:pPr lvl="1"/>
            <a:r>
              <a:rPr lang="en-US"/>
              <a:t>You may choose to draw a card, even if you have a playable card in your hand.</a:t>
            </a:r>
          </a:p>
          <a:p>
            <a:r>
              <a:rPr lang="en-US"/>
              <a:t>Once you have only one card in your hand you must yell “UNO”. </a:t>
            </a:r>
          </a:p>
          <a:p>
            <a:pPr lvl="1"/>
            <a:r>
              <a:rPr lang="en-US"/>
              <a:t>If someone catches you and calls out “UNO” before you, then you must draw two cards.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9E633-9625-74EA-A518-F8E0E77E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64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21EA13A-4CF2-0C89-AE91-AE7EAA2DC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9818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1EA13A-4CF2-0C89-AE91-AE7EAA2DC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D94D1EC-918F-C235-C632-CA9F743D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Another UNO® Match</a:t>
            </a:r>
            <a:endParaRPr lang="LID4096"/>
          </a:p>
        </p:txBody>
      </p:sp>
      <p:pic>
        <p:nvPicPr>
          <p:cNvPr id="4" name="Online Media 3" title="CLASSIC UNO 101 🏆 How To Win UNO With Combo Moves | UNO Gameplay Tip">
            <a:hlinkClick r:id="" action="ppaction://media"/>
            <a:extLst>
              <a:ext uri="{FF2B5EF4-FFF2-40B4-BE49-F238E27FC236}">
                <a16:creationId xmlns:a16="http://schemas.microsoft.com/office/drawing/2014/main" id="{1116450D-6EF4-4A42-28E0-1247F16C9CBD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1569284" y="1497237"/>
            <a:ext cx="9053437" cy="510711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5FAEE-3BE5-530F-D09D-D04DAFEF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B61D507-5309-0567-E0C6-15BD739F1A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72371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61D507-5309-0567-E0C6-15BD739F1A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57A1A65-5858-5351-4FD1-48EDC595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Challenge Mechanic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49E21-4B58-A524-0C14-FA924833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/>
              <a:t>Wild Draw Four</a:t>
            </a:r>
          </a:p>
          <a:p>
            <a:pPr marL="0" indent="0">
              <a:buNone/>
            </a:pPr>
            <a:r>
              <a:rPr lang="en-US" sz="2000"/>
              <a:t>This card matches anything so you can play it no matter what card is on the Discard Pile. However, there’s a catch: you can only play a Wild Draw 4 if you </a:t>
            </a:r>
            <a:r>
              <a:rPr lang="en-US" sz="2000" u="sng"/>
              <a:t>DO NOT HAVE ANY CARD IN YOUR HAND THAT MATCHES THE COLOR OF THE DISCARD PILE</a:t>
            </a:r>
            <a:r>
              <a:rPr lang="en-US" sz="2000"/>
              <a:t>.</a:t>
            </a:r>
          </a:p>
          <a:p>
            <a:pPr marL="0" indent="0">
              <a:buNone/>
            </a:pPr>
            <a:r>
              <a:rPr lang="en-US" sz="2000"/>
              <a:t>When played, the next player has two options: Draw 4 cards and lose their turn OR challenge.</a:t>
            </a:r>
          </a:p>
          <a:p>
            <a:pPr marL="0" indent="0">
              <a:buNone/>
            </a:pPr>
            <a:r>
              <a:rPr lang="en-US" sz="2000"/>
              <a:t>If the player challenges you, then you must show them your entire hand to confirm whether or not you have a card that matches the color of the discard pile – Wild cards are considered a match, too.</a:t>
            </a:r>
          </a:p>
          <a:p>
            <a:r>
              <a:rPr lang="en-US" sz="2000"/>
              <a:t>If you </a:t>
            </a:r>
            <a:r>
              <a:rPr lang="en-US" sz="2000" u="sng"/>
              <a:t>DO NOT</a:t>
            </a:r>
            <a:r>
              <a:rPr lang="en-US" sz="2000"/>
              <a:t> have a card that matches color: the challenger draws 6 cards instead of 4 and loses their turn.</a:t>
            </a:r>
          </a:p>
          <a:p>
            <a:r>
              <a:rPr lang="en-US" sz="2000"/>
              <a:t>If you </a:t>
            </a:r>
            <a:r>
              <a:rPr lang="en-US" sz="2000" u="sng"/>
              <a:t>DO</a:t>
            </a:r>
            <a:r>
              <a:rPr lang="en-US" sz="2000"/>
              <a:t> have a card that matches color: YOU must draw 4 cards and they draw none.</a:t>
            </a:r>
          </a:p>
          <a:p>
            <a:pPr marL="0" indent="0">
              <a:buNone/>
            </a:pPr>
            <a:r>
              <a:rPr lang="en-US" sz="2000"/>
              <a:t>This card is also a Wild card, so you get to choose the color that continues play (regardless of the outcome of any challenge).</a:t>
            </a:r>
            <a:endParaRPr lang="LID4096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4BFCE-2558-8673-1234-3BCE025D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6477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40D0203-9E50-E0B9-249E-F370BC29DD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386373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0D0203-9E50-E0B9-249E-F370BC29D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CB8B15-5CAD-CF63-AF81-E469B1E5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</a:t>
            </a:r>
            <a:r>
              <a:rPr lang="en-US" u="sng"/>
              <a:t>Illegal</a:t>
            </a:r>
            <a:r>
              <a:rPr lang="en-US"/>
              <a:t> Plays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E259-51ED-EEF2-3013-C5E07BE2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illegal play occurs when you have a card matching the color of the card on the discard pile </a:t>
            </a:r>
            <a:r>
              <a:rPr lang="en-US" u="sng"/>
              <a:t>OR</a:t>
            </a:r>
            <a:r>
              <a:rPr lang="en-US"/>
              <a:t> you have a wild card.</a:t>
            </a:r>
          </a:p>
          <a:p>
            <a:r>
              <a:rPr lang="en-US"/>
              <a:t>As a result, your Wild Draw Four (+4) card could be successfully contested by your opponent.</a:t>
            </a:r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26E44-76FB-6F68-8224-B8F02B10F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4"/>
          <a:stretch>
            <a:fillRect/>
          </a:stretch>
        </p:blipFill>
        <p:spPr>
          <a:xfrm>
            <a:off x="2967197" y="3563813"/>
            <a:ext cx="2729827" cy="310896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10BB1-7999-AC74-929A-F7C412FAB8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4"/>
          <a:stretch>
            <a:fillRect/>
          </a:stretch>
        </p:blipFill>
        <p:spPr>
          <a:xfrm>
            <a:off x="6494981" y="3563813"/>
            <a:ext cx="2729827" cy="310896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18F690-DF28-B943-D89D-277E8F1F3A87}"/>
              </a:ext>
            </a:extLst>
          </p:cNvPr>
          <p:cNvSpPr txBox="1"/>
          <p:nvPr/>
        </p:nvSpPr>
        <p:spPr>
          <a:xfrm>
            <a:off x="928083" y="3825634"/>
            <a:ext cx="2039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Illegal play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the player is holding a 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matching card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(yellow 3) in their hand.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16D92-52DB-3AAC-092F-AE5FB0D10C6E}"/>
              </a:ext>
            </a:extLst>
          </p:cNvPr>
          <p:cNvSpPr txBox="1"/>
          <p:nvPr/>
        </p:nvSpPr>
        <p:spPr>
          <a:xfrm>
            <a:off x="9224805" y="3825632"/>
            <a:ext cx="20391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Illegal play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the player is holding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wild card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their hand.</a:t>
            </a:r>
          </a:p>
          <a:p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wild card is considered a match, too. 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6F1CE-2FC9-2EC0-A03D-ECAE31C0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368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2DA1-0303-E612-C48D-8C333A13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9D3C384-60D8-AE3F-046F-525EE63B54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210552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D3C384-60D8-AE3F-046F-525EE63B5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5C3C095-4CE5-E00B-574C-178C1ACD3A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/>
          <a:stretch>
            <a:fillRect/>
          </a:stretch>
        </p:blipFill>
        <p:spPr>
          <a:xfrm>
            <a:off x="6473792" y="3563816"/>
            <a:ext cx="2743200" cy="3108961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856544-A6DA-CD07-70B6-5FAA47EE89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/>
          <a:stretch>
            <a:fillRect/>
          </a:stretch>
        </p:blipFill>
        <p:spPr>
          <a:xfrm>
            <a:off x="2975008" y="3563813"/>
            <a:ext cx="2743200" cy="3108963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D8265E-49CE-8A52-7FD8-DD69A0DD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</a:t>
            </a:r>
            <a:r>
              <a:rPr lang="en-US" u="sng"/>
              <a:t>Legal</a:t>
            </a:r>
            <a:r>
              <a:rPr lang="en-US"/>
              <a:t> Plays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2FBE-7F77-D6B4-F989-C9B4C1B1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legal play of the Wild Draw Four (+4) card is any play when the player does not hold a card matching the color of the top card on the discard pile. </a:t>
            </a:r>
          </a:p>
          <a:p>
            <a:r>
              <a:rPr lang="en-US"/>
              <a:t>Challenging these plays would result in +6 draw for the opponent.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73AF3-E9DD-373D-6170-3CDC40245060}"/>
              </a:ext>
            </a:extLst>
          </p:cNvPr>
          <p:cNvSpPr txBox="1"/>
          <p:nvPr/>
        </p:nvSpPr>
        <p:spPr>
          <a:xfrm>
            <a:off x="9224804" y="3825632"/>
            <a:ext cx="2037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though the player </a:t>
            </a:r>
            <a:r>
              <a:rPr lang="en-US"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play the blue 9 this play is 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because the rule only regards color, not number or symbol.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C8929-77F2-608B-0E69-247BDBDC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D0415530304DD45A821F3D8B605F0E1" ma:contentTypeVersion="3" ma:contentTypeDescription="Ein neues Dokument erstellen." ma:contentTypeScope="" ma:versionID="fef97be564bdbb46eef578fb0930549e">
  <xsd:schema xmlns:xsd="http://www.w3.org/2001/XMLSchema" xmlns:xs="http://www.w3.org/2001/XMLSchema" xmlns:p="http://schemas.microsoft.com/office/2006/metadata/properties" xmlns:ns2="7e5c0ae1-865f-49a3-94fd-c141fd850ea9" targetNamespace="http://schemas.microsoft.com/office/2006/metadata/properties" ma:root="true" ma:fieldsID="3f3055c0c6cd41d1e710526ffb51d146" ns2:_="">
    <xsd:import namespace="7e5c0ae1-865f-49a3-94fd-c141fd850e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5c0ae1-865f-49a3-94fd-c141fd850e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72ADF9-BFE2-4C79-8B1A-498F7B20AE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3439BC-C7D7-4CF9-80C3-6595BCDD7CC5}">
  <ds:schemaRefs>
    <ds:schemaRef ds:uri="http://schemas.microsoft.com/office/2006/documentManagement/types"/>
    <ds:schemaRef ds:uri="http://schemas.microsoft.com/office/infopath/2007/PartnerControls"/>
    <ds:schemaRef ds:uri="7e5c0ae1-865f-49a3-94fd-c141fd850ea9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DFD653B-6D74-42C8-A1E4-1EA6584F045E}">
  <ds:schemaRefs>
    <ds:schemaRef ds:uri="7e5c0ae1-865f-49a3-94fd-c141fd850e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4610</Words>
  <Application>Microsoft Office PowerPoint</Application>
  <PresentationFormat>Widescreen</PresentationFormat>
  <Paragraphs>594</Paragraphs>
  <Slides>51</Slides>
  <Notes>18</Notes>
  <HiddenSlides>0</HiddenSlides>
  <MMClips>2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等线</vt:lpstr>
      <vt:lpstr>Arial</vt:lpstr>
      <vt:lpstr>Arial,Sans-Serif</vt:lpstr>
      <vt:lpstr>Calibri</vt:lpstr>
      <vt:lpstr>Cambria Math</vt:lpstr>
      <vt:lpstr>Courier New</vt:lpstr>
      <vt:lpstr>Courier New,monospace</vt:lpstr>
      <vt:lpstr>Segoe UI</vt:lpstr>
      <vt:lpstr>System Font Regular</vt:lpstr>
      <vt:lpstr>Wingdings</vt:lpstr>
      <vt:lpstr>Office Theme</vt:lpstr>
      <vt:lpstr>think-cell Slide</vt:lpstr>
      <vt:lpstr>UNO Agent Arena</vt:lpstr>
      <vt:lpstr>Objectives</vt:lpstr>
      <vt:lpstr>Contents</vt:lpstr>
      <vt:lpstr>  Uno rules &amp; Game set up</vt:lpstr>
      <vt:lpstr>About The UNO® Card Game</vt:lpstr>
      <vt:lpstr>How UNO® Is Played</vt:lpstr>
      <vt:lpstr>UNO® Action And Wild Cards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Existing Research on Uno </vt:lpstr>
      <vt:lpstr>PowerPoint Presentation</vt:lpstr>
      <vt:lpstr>PowerPoint Presentation</vt:lpstr>
      <vt:lpstr>   Heuristic-Based Agents</vt:lpstr>
      <vt:lpstr>PowerPoint Presentation</vt:lpstr>
      <vt:lpstr>   Reinforcement Learning  (RL) Agent </vt:lpstr>
      <vt:lpstr>RL Agent – Framework</vt:lpstr>
      <vt:lpstr>RL Agent – State &amp; Action</vt:lpstr>
      <vt:lpstr>RL Agent – Reward and Training </vt:lpstr>
      <vt:lpstr>   Information Set Monte Carlo Tree Search Agent  (ISMCTS)</vt:lpstr>
      <vt:lpstr>PowerPoint Presentation</vt:lpstr>
      <vt:lpstr>PowerPoint Presentation</vt:lpstr>
      <vt:lpstr>PowerPoint Presentation</vt:lpstr>
      <vt:lpstr>PowerPoint Presentation</vt:lpstr>
      <vt:lpstr>Analysis &amp;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Compete against our UNO agents!</vt:lpstr>
      <vt:lpstr>PowerPoint Presentation</vt:lpstr>
      <vt:lpstr>References</vt:lpstr>
      <vt:lpstr>Thank you for your attention!</vt:lpstr>
      <vt:lpstr>Appendix</vt:lpstr>
      <vt:lpstr>UNO® Gameplay</vt:lpstr>
      <vt:lpstr>Another UNO® Match</vt:lpstr>
      <vt:lpstr>Wild Draw Four – Challenge Mechanic</vt:lpstr>
      <vt:lpstr>Wild Draw Four – Illegal Plays</vt:lpstr>
      <vt:lpstr>Wild Draw Four – Legal Plays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 Agent Arena</dc:title>
  <dc:creator>Marc Hayes</dc:creator>
  <cp:lastModifiedBy>Marc Hayes</cp:lastModifiedBy>
  <cp:revision>2</cp:revision>
  <dcterms:created xsi:type="dcterms:W3CDTF">2026-05-11T13:20:27Z</dcterms:created>
  <dcterms:modified xsi:type="dcterms:W3CDTF">2026-05-23T10:25:42Z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0x010100FD0415530304DD45A821F3D8B605F0E1</vt:lpwstr>
  </property>
</Properties>
</file>